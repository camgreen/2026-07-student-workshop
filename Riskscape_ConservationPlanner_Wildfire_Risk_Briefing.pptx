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7" r:id="rId2"/>
    <p:sldId id="258" r:id="rId3"/>
    <p:sldId id="259" r:id="rId4"/>
    <p:sldId id="260" r:id="rId5"/>
    <p:sldId id="261" r:id="rId6"/>
    <p:sldId id="262" r:id="rId7"/>
    <p:sldId id="263" r:id="rId8"/>
    <p:sldId id="264"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5" d="100"/>
          <a:sy n="105" d="100"/>
        </p:scale>
        <p:origin x="79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meron Green" userId="c6928151-536b-4292-874f-c5e068c416b1" providerId="ADAL" clId="{E1541D14-7F88-4455-801F-6E5C5228FD75}"/>
    <pc:docChg chg="delSld">
      <pc:chgData name="Cameron Green" userId="c6928151-536b-4292-874f-c5e068c416b1" providerId="ADAL" clId="{E1541D14-7F88-4455-801F-6E5C5228FD75}" dt="2026-07-13T12:53:00.376" v="0" actId="2696"/>
      <pc:docMkLst>
        <pc:docMk/>
      </pc:docMkLst>
      <pc:sldChg chg="del">
        <pc:chgData name="Cameron Green" userId="c6928151-536b-4292-874f-c5e068c416b1" providerId="ADAL" clId="{E1541D14-7F88-4455-801F-6E5C5228FD75}" dt="2026-07-13T12:53:00.376" v="0" actId="2696"/>
        <pc:sldMkLst>
          <pc:docMk/>
          <pc:sldMk cId="0" sldId="25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92330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 thanks for making time. Your question was really two questions in one: which of our bioregions are taking the worst fires, and is that getting more frequent or less over time. What follows is a bioregion-by-bioregion assessment built from fourteen years of real fire records and our production severity model, ending in a concrete recommendation on where monitoring effort should go first this season.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Quick grounding before the maps. This draws on 4,644 mapped ignitions across the Western Cape since 2012, joined directly to bioregion polygons from the national vegetation map — the same ecological zones you'd recognise as Fynbos, Karoo, and so on. We're layering on our production severity model, and to answer the 'is this changing' half of your question, we split the record into two full-year periods, 2012 to 2019 and 2020 to 2025, and compare annualised rates. Three views of that data: how often, how bad, and which direction things are trending.</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first map is a straight count, shown on a log scale because Fynbos otherwise swamps everything else — it accounts for 92% of every matched ignition in this dataset, which shouldn't be surprising since it's also the largest bioregion in the province by a wide margin. The smaller bioregions — Grassland at just 13 fires, Forests at 29 — get an asterisk on their labels for exactly that reason: with so few events, a single unusual year can swing the percentage a long way, and I don't want you reading more into those numbers than the sample supports.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Frequency told us where fires happen most often; this map tells us how intense they get once they do — the zonal average of our severity model inside each bioregion. Grassland technically tops the list at 1.84, but I'd lean on Nama-Karoo as the more trustworthy 'high severity' finding here, since its 1.82 average sits on a base of 100 fires rather than 13. Fynbos, despite dominating every count we've looked at, actually sits in the middle of the severity range — scale and intensity are two different things.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map turns a snapshot into a trend by comparing two full-year periods, 2012 to 2019 against 2020 to 2025. The headline: six of seven bioregions are trending down, some sharply — but Succulent Karoo is the exception, up an estimated 19%. That's a real, if modest, signal on a reasonable base of 70-plus fires each period, and it's the one line in this whole assessment moving in the wrong direction. Everything else declining doesn't cancel that out — if anything it makes Succulent Karoo stand out more.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Direct answer: Nama-Karoo and Succulent Karoo are where I'd send monitoring attention first, for two different reasons. Nama-Karoo combines the second-highest severity in the province with a credible, large-sample result — worth understanding whether that historical decline holds. Succulent Karoo is the one bioregion getting worse, not better, and if that trend continues it deserves attention now, before it becomes a bigger problem. Grassland's severity number is technically the highest of all seven, but with only 13 fires on record over fourteen years, I wouldn't act on that number alone yet — flag it, don't prioritise on it.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few honest caveats before you act on this. We assigned every fire to a bioregion using the province's seven broad biomes, not the finer bioregion subtypes underneath them — that's the right level of detail for a monitoring-priority conversation, but it does mean we're not distinguishing, say, one type of Fynbos from another. The decade comparison deliberately uses complete calendar years and drops the partial 2026 data, so the trend numbers are on a fair footing. And I want to repeat the small-sample flag on Grassland and Forests one more time here, because an -89% swing on 13 fires is a very different kind of finding than a -67% swing on 100. Treat this as a strong screening tool for where to look closer, not a final verdict.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That's the assessment: three views of the same fourteen years of data, converging on one recommendation — Nama-Karoo and Succulent Karoo are your two priority cases, for different reasons, and the smaller bioregions deserve a caveat rather than a confident number. Happy to take questions, and happy to rerun the trend piece year-by-year rather than by decade half if that would be more useful for how your team actually plans field visits.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84848"/>
            <a:ext cx="12191695" cy="73152"/>
          </a:xfrm>
          <a:prstGeom prst="rect">
            <a:avLst/>
          </a:prstGeom>
          <a:solidFill>
            <a:srgbClr val="AA1D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logo_final.png"/>
          <p:cNvPicPr>
            <a:picLocks noChangeAspect="1"/>
          </p:cNvPicPr>
          <p:nvPr/>
        </p:nvPicPr>
        <p:blipFill>
          <a:blip r:embed="rId3"/>
          <a:stretch>
            <a:fillRect/>
          </a:stretch>
        </p:blipFill>
        <p:spPr>
          <a:xfrm>
            <a:off x="822960" y="640080"/>
            <a:ext cx="2320138" cy="1005840"/>
          </a:xfrm>
          <a:prstGeom prst="rect">
            <a:avLst/>
          </a:prstGeom>
        </p:spPr>
      </p:pic>
      <p:sp>
        <p:nvSpPr>
          <p:cNvPr id="5" name="TextBox 4"/>
          <p:cNvSpPr txBox="1"/>
          <p:nvPr/>
        </p:nvSpPr>
        <p:spPr>
          <a:xfrm>
            <a:off x="822960" y="2148840"/>
            <a:ext cx="10515600" cy="365760"/>
          </a:xfrm>
          <a:prstGeom prst="rect">
            <a:avLst/>
          </a:prstGeom>
          <a:noFill/>
        </p:spPr>
        <p:txBody>
          <a:bodyPr wrap="square" anchor="t">
            <a:spAutoFit/>
          </a:bodyPr>
          <a:lstStyle/>
          <a:p>
            <a:pPr algn="l"/>
            <a:r>
              <a:rPr sz="1600" b="1" i="0">
                <a:solidFill>
                  <a:srgbClr val="AA1D13"/>
                </a:solidFill>
                <a:latin typeface="Calibri"/>
              </a:rPr>
              <a:t>ECOLOGICAL RISK ASSESSMENT</a:t>
            </a:r>
          </a:p>
        </p:txBody>
      </p:sp>
      <p:sp>
        <p:nvSpPr>
          <p:cNvPr id="6" name="TextBox 5"/>
          <p:cNvSpPr txBox="1"/>
          <p:nvPr/>
        </p:nvSpPr>
        <p:spPr>
          <a:xfrm>
            <a:off x="822960" y="2514600"/>
            <a:ext cx="10515600" cy="1188720"/>
          </a:xfrm>
          <a:prstGeom prst="rect">
            <a:avLst/>
          </a:prstGeom>
          <a:noFill/>
        </p:spPr>
        <p:txBody>
          <a:bodyPr wrap="square" anchor="t">
            <a:spAutoFit/>
          </a:bodyPr>
          <a:lstStyle/>
          <a:p>
            <a:pPr algn="l"/>
            <a:r>
              <a:rPr sz="3800" b="1" i="0">
                <a:solidFill>
                  <a:srgbClr val="262626"/>
                </a:solidFill>
                <a:latin typeface="Calibri"/>
              </a:rPr>
              <a:t>Western Cape Bioregion Fire Assessment</a:t>
            </a:r>
          </a:p>
        </p:txBody>
      </p:sp>
      <p:sp>
        <p:nvSpPr>
          <p:cNvPr id="7" name="Rectangle 6"/>
          <p:cNvSpPr/>
          <p:nvPr/>
        </p:nvSpPr>
        <p:spPr>
          <a:xfrm>
            <a:off x="841248" y="3310128"/>
            <a:ext cx="1280160" cy="38100"/>
          </a:xfrm>
          <a:prstGeom prst="rect">
            <a:avLst/>
          </a:prstGeom>
          <a:solidFill>
            <a:srgbClr val="AA1D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3520440"/>
            <a:ext cx="10515600" cy="640080"/>
          </a:xfrm>
          <a:prstGeom prst="rect">
            <a:avLst/>
          </a:prstGeom>
          <a:noFill/>
        </p:spPr>
        <p:txBody>
          <a:bodyPr wrap="square" anchor="t">
            <a:spAutoFit/>
          </a:bodyPr>
          <a:lstStyle/>
          <a:p>
            <a:pPr algn="l"/>
            <a:r>
              <a:rPr sz="1900" b="0" i="1">
                <a:solidFill>
                  <a:srgbClr val="6E6E6E"/>
                </a:solidFill>
                <a:latin typeface="Calibri"/>
              </a:rPr>
              <a:t>Which Bioregions Are Burning Worst, and Is That Changing?</a:t>
            </a:r>
          </a:p>
        </p:txBody>
      </p:sp>
      <p:sp>
        <p:nvSpPr>
          <p:cNvPr id="9" name="TextBox 8"/>
          <p:cNvSpPr txBox="1"/>
          <p:nvPr/>
        </p:nvSpPr>
        <p:spPr>
          <a:xfrm>
            <a:off x="822960" y="5989320"/>
            <a:ext cx="8229600" cy="274320"/>
          </a:xfrm>
          <a:prstGeom prst="rect">
            <a:avLst/>
          </a:prstGeom>
          <a:noFill/>
        </p:spPr>
        <p:txBody>
          <a:bodyPr wrap="square" anchor="t">
            <a:spAutoFit/>
          </a:bodyPr>
          <a:lstStyle/>
          <a:p>
            <a:pPr algn="l"/>
            <a:r>
              <a:rPr sz="1300" b="0" i="0">
                <a:solidFill>
                  <a:srgbClr val="262626"/>
                </a:solidFill>
                <a:latin typeface="Calibri"/>
              </a:rPr>
              <a:t>Prepared for: Western Cape Conservation Planning Unit</a:t>
            </a:r>
          </a:p>
        </p:txBody>
      </p:sp>
      <p:sp>
        <p:nvSpPr>
          <p:cNvPr id="10" name="TextBox 9"/>
          <p:cNvSpPr txBox="1"/>
          <p:nvPr/>
        </p:nvSpPr>
        <p:spPr>
          <a:xfrm>
            <a:off x="822960" y="6263640"/>
            <a:ext cx="8229600" cy="274320"/>
          </a:xfrm>
          <a:prstGeom prst="rect">
            <a:avLst/>
          </a:prstGeom>
          <a:noFill/>
        </p:spPr>
        <p:txBody>
          <a:bodyPr wrap="square" anchor="t">
            <a:spAutoFit/>
          </a:bodyPr>
          <a:lstStyle/>
          <a:p>
            <a:pPr algn="l"/>
            <a:r>
              <a:rPr sz="1300" b="0" i="0">
                <a:solidFill>
                  <a:srgbClr val="262626"/>
                </a:solidFill>
                <a:latin typeface="Calibri"/>
              </a:rPr>
              <a:t>Prepared by: Cameron Green, Spatial Data Infrastructure Engineer — Riskscape Analytics</a:t>
            </a:r>
          </a:p>
        </p:txBody>
      </p:sp>
      <p:sp>
        <p:nvSpPr>
          <p:cNvPr id="11" name="TextBox 10"/>
          <p:cNvSpPr txBox="1"/>
          <p:nvPr/>
        </p:nvSpPr>
        <p:spPr>
          <a:xfrm>
            <a:off x="822960" y="6537960"/>
            <a:ext cx="8229600" cy="228600"/>
          </a:xfrm>
          <a:prstGeom prst="rect">
            <a:avLst/>
          </a:prstGeom>
          <a:noFill/>
        </p:spPr>
        <p:txBody>
          <a:bodyPr wrap="square" anchor="t">
            <a:spAutoFit/>
          </a:bodyPr>
          <a:lstStyle/>
          <a:p>
            <a:pPr algn="l"/>
            <a:r>
              <a:rPr sz="1150" b="0" i="0">
                <a:solidFill>
                  <a:srgbClr val="6E6E6E"/>
                </a:solidFill>
                <a:latin typeface="Calibri"/>
              </a:rPr>
              <a:t>July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
          </a:xfrm>
          <a:prstGeom prst="rect">
            <a:avLst/>
          </a:prstGeom>
          <a:solidFill>
            <a:srgbClr val="AA1D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56032"/>
            <a:ext cx="8686800" cy="274320"/>
          </a:xfrm>
          <a:prstGeom prst="rect">
            <a:avLst/>
          </a:prstGeom>
          <a:noFill/>
        </p:spPr>
        <p:txBody>
          <a:bodyPr wrap="square" anchor="t">
            <a:spAutoFit/>
          </a:bodyPr>
          <a:lstStyle/>
          <a:p>
            <a:pPr algn="l"/>
            <a:r>
              <a:rPr sz="1300" b="1" i="0">
                <a:solidFill>
                  <a:srgbClr val="AA1D13"/>
                </a:solidFill>
                <a:latin typeface="Calibri"/>
              </a:rPr>
              <a:t>SCOPE &amp; DATA</a:t>
            </a:r>
          </a:p>
        </p:txBody>
      </p:sp>
      <p:sp>
        <p:nvSpPr>
          <p:cNvPr id="5" name="TextBox 4"/>
          <p:cNvSpPr txBox="1"/>
          <p:nvPr/>
        </p:nvSpPr>
        <p:spPr>
          <a:xfrm>
            <a:off x="548640" y="530352"/>
            <a:ext cx="9601200" cy="548640"/>
          </a:xfrm>
          <a:prstGeom prst="rect">
            <a:avLst/>
          </a:prstGeom>
          <a:noFill/>
        </p:spPr>
        <p:txBody>
          <a:bodyPr wrap="square" anchor="t">
            <a:spAutoFit/>
          </a:bodyPr>
          <a:lstStyle/>
          <a:p>
            <a:pPr algn="l"/>
            <a:r>
              <a:rPr sz="2600" b="1" i="0">
                <a:solidFill>
                  <a:srgbClr val="262626"/>
                </a:solidFill>
                <a:latin typeface="Calibri"/>
              </a:rPr>
              <a:t>What This Assessment Covers</a:t>
            </a:r>
          </a:p>
        </p:txBody>
      </p:sp>
      <p:pic>
        <p:nvPicPr>
          <p:cNvPr id="6" name="Picture 5" descr="logo_bird.png"/>
          <p:cNvPicPr>
            <a:picLocks noChangeAspect="1"/>
          </p:cNvPicPr>
          <p:nvPr/>
        </p:nvPicPr>
        <p:blipFill>
          <a:blip r:embed="rId3"/>
          <a:stretch>
            <a:fillRect/>
          </a:stretch>
        </p:blipFill>
        <p:spPr>
          <a:xfrm>
            <a:off x="10698480" y="292608"/>
            <a:ext cx="1052263" cy="438912"/>
          </a:xfrm>
          <a:prstGeom prst="rect">
            <a:avLst/>
          </a:prstGeom>
        </p:spPr>
      </p:pic>
      <p:sp>
        <p:nvSpPr>
          <p:cNvPr id="7" name="Rectangle 6"/>
          <p:cNvSpPr/>
          <p:nvPr/>
        </p:nvSpPr>
        <p:spPr>
          <a:xfrm>
            <a:off x="0" y="1078992"/>
            <a:ext cx="12191695" cy="12700"/>
          </a:xfrm>
          <a:prstGeom prst="rect">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1371600"/>
            <a:ext cx="6126480" cy="4846320"/>
          </a:xfrm>
          <a:prstGeom prst="rect">
            <a:avLst/>
          </a:prstGeom>
          <a:noFill/>
        </p:spPr>
        <p:txBody>
          <a:bodyPr wrap="square">
            <a:spAutoFit/>
          </a:bodyPr>
          <a:lstStyle/>
          <a:p>
            <a:pPr>
              <a:spcAft>
                <a:spcPts val="1200"/>
              </a:spcAft>
            </a:pPr>
            <a:r>
              <a:rPr sz="1550">
                <a:solidFill>
                  <a:srgbClr val="262626"/>
                </a:solidFill>
                <a:latin typeface="Calibri"/>
              </a:rPr>
              <a:t>•  Question: which Western Cape bioregions are burning most severely, and is fire frequency rising or falling over time?</a:t>
            </a:r>
          </a:p>
          <a:p>
            <a:pPr>
              <a:spcAft>
                <a:spcPts val="1200"/>
              </a:spcAft>
            </a:pPr>
            <a:r>
              <a:rPr sz="1550">
                <a:solidFill>
                  <a:srgbClr val="262626"/>
                </a:solidFill>
                <a:latin typeface="Calibri"/>
              </a:rPr>
              <a:t>•  Fire record: 4,644 mapped ignition points across the Western Cape, spanning 2012 to 2026 (4,631 matched to a bioregion by location)</a:t>
            </a:r>
          </a:p>
          <a:p>
            <a:pPr>
              <a:spcAft>
                <a:spcPts val="1200"/>
              </a:spcAft>
            </a:pPr>
            <a:r>
              <a:rPr sz="1550">
                <a:solidFill>
                  <a:srgbClr val="262626"/>
                </a:solidFill>
                <a:latin typeface="Calibri"/>
              </a:rPr>
              <a:t>•  Severity: Riskscape's production severity model (summer season)</a:t>
            </a:r>
          </a:p>
          <a:p>
            <a:pPr>
              <a:spcAft>
                <a:spcPts val="1200"/>
              </a:spcAft>
            </a:pPr>
            <a:r>
              <a:rPr sz="1550">
                <a:solidFill>
                  <a:srgbClr val="262626"/>
                </a:solidFill>
                <a:latin typeface="Calibri"/>
              </a:rPr>
              <a:t>•  Trend: fires split into two full-year periods — 2012–2019 and 2020–2025 — and compared as an annualised rate (2026 excluded; it only has data through March)</a:t>
            </a:r>
          </a:p>
          <a:p>
            <a:pPr>
              <a:spcAft>
                <a:spcPts val="1200"/>
              </a:spcAft>
            </a:pPr>
            <a:r>
              <a:rPr sz="1550">
                <a:solidFill>
                  <a:srgbClr val="262626"/>
                </a:solidFill>
                <a:latin typeface="Calibri"/>
              </a:rPr>
              <a:t>•  Bioregions: the national vegetation map, clipped to the Western Cape and dissolved to seven biomes — Fynbos, Nama-Karoo, Succulent Karoo, Albany Thicket, Azonal Vegetation, Forests, and Grassland</a:t>
            </a:r>
          </a:p>
        </p:txBody>
      </p:sp>
      <p:sp>
        <p:nvSpPr>
          <p:cNvPr id="9" name="TextBox 8"/>
          <p:cNvSpPr txBox="1"/>
          <p:nvPr/>
        </p:nvSpPr>
        <p:spPr>
          <a:xfrm>
            <a:off x="7040880" y="1463040"/>
            <a:ext cx="4572000" cy="4389120"/>
          </a:xfrm>
          <a:prstGeom prst="rect">
            <a:avLst/>
          </a:prstGeom>
          <a:noFill/>
        </p:spPr>
        <p:txBody>
          <a:bodyPr wrap="square" anchor="t">
            <a:spAutoFit/>
          </a:bodyPr>
          <a:lstStyle/>
          <a:p>
            <a:pPr algn="l">
              <a:lnSpc>
                <a:spcPct val="115000"/>
              </a:lnSpc>
            </a:pPr>
            <a:r>
              <a:rPr sz="1500" b="0" i="0">
                <a:solidFill>
                  <a:srgbClr val="262626"/>
                </a:solidFill>
                <a:latin typeface="Calibri"/>
              </a:rPr>
              <a:t>Three views, one dataset</a:t>
            </a:r>
          </a:p>
          <a:p>
            <a:pPr algn="l">
              <a:lnSpc>
                <a:spcPct val="115000"/>
              </a:lnSpc>
            </a:pPr>
            <a:endParaRPr sz="1500" b="0" i="0">
              <a:solidFill>
                <a:srgbClr val="262626"/>
              </a:solidFill>
              <a:latin typeface="Calibri"/>
            </a:endParaRPr>
          </a:p>
          <a:p>
            <a:pPr algn="l">
              <a:lnSpc>
                <a:spcPct val="115000"/>
              </a:lnSpc>
            </a:pPr>
            <a:r>
              <a:rPr sz="1500" b="0" i="0">
                <a:solidFill>
                  <a:srgbClr val="262626"/>
                </a:solidFill>
                <a:latin typeface="Calibri"/>
              </a:rPr>
              <a:t>1. Ignition frequency — how often fires start, by bioregion</a:t>
            </a:r>
          </a:p>
          <a:p>
            <a:pPr algn="l">
              <a:lnSpc>
                <a:spcPct val="115000"/>
              </a:lnSpc>
            </a:pPr>
            <a:endParaRPr sz="1500" b="0" i="0">
              <a:solidFill>
                <a:srgbClr val="262626"/>
              </a:solidFill>
              <a:latin typeface="Calibri"/>
            </a:endParaRPr>
          </a:p>
          <a:p>
            <a:pPr algn="l">
              <a:lnSpc>
                <a:spcPct val="115000"/>
              </a:lnSpc>
            </a:pPr>
            <a:r>
              <a:rPr sz="1500" b="0" i="0">
                <a:solidFill>
                  <a:srgbClr val="262626"/>
                </a:solidFill>
                <a:latin typeface="Calibri"/>
              </a:rPr>
              <a:t>2. Mean severity — how intense fires get, by bioregion</a:t>
            </a:r>
          </a:p>
          <a:p>
            <a:pPr algn="l">
              <a:lnSpc>
                <a:spcPct val="115000"/>
              </a:lnSpc>
            </a:pPr>
            <a:endParaRPr sz="1500" b="0" i="0">
              <a:solidFill>
                <a:srgbClr val="262626"/>
              </a:solidFill>
              <a:latin typeface="Calibri"/>
            </a:endParaRPr>
          </a:p>
          <a:p>
            <a:pPr algn="l">
              <a:lnSpc>
                <a:spcPct val="115000"/>
              </a:lnSpc>
            </a:pPr>
            <a:r>
              <a:rPr sz="1500" b="0" i="0">
                <a:solidFill>
                  <a:srgbClr val="262626"/>
                </a:solidFill>
                <a:latin typeface="Calibri"/>
              </a:rPr>
              <a:t>3. Decade trend — whether that picture is improving or worsening over time</a:t>
            </a:r>
          </a:p>
        </p:txBody>
      </p:sp>
      <p:sp>
        <p:nvSpPr>
          <p:cNvPr id="10" name="Rectangle 9"/>
          <p:cNvSpPr/>
          <p:nvPr/>
        </p:nvSpPr>
        <p:spPr>
          <a:xfrm>
            <a:off x="7040880" y="1371600"/>
            <a:ext cx="31750" cy="4480560"/>
          </a:xfrm>
          <a:prstGeom prst="rect">
            <a:avLst/>
          </a:prstGeom>
          <a:solidFill>
            <a:srgbClr val="F2F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0" y="6565392"/>
            <a:ext cx="12191695" cy="9525"/>
          </a:xfrm>
          <a:prstGeom prst="rect">
            <a:avLst/>
          </a:prstGeom>
          <a:solidFill>
            <a:srgbClr val="F2F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48640" y="6601968"/>
            <a:ext cx="5486400" cy="228600"/>
          </a:xfrm>
          <a:prstGeom prst="rect">
            <a:avLst/>
          </a:prstGeom>
          <a:noFill/>
        </p:spPr>
        <p:txBody>
          <a:bodyPr wrap="square" anchor="t">
            <a:spAutoFit/>
          </a:bodyPr>
          <a:lstStyle/>
          <a:p>
            <a:pPr algn="l"/>
            <a:r>
              <a:rPr sz="950" b="0" i="0">
                <a:solidFill>
                  <a:srgbClr val="6E6E6E"/>
                </a:solidFill>
                <a:latin typeface="Calibri"/>
              </a:rPr>
              <a:t>RISKSCAPE  |  Spatial Actuarial Technologies</a:t>
            </a:r>
          </a:p>
        </p:txBody>
      </p:sp>
      <p:sp>
        <p:nvSpPr>
          <p:cNvPr id="13" name="TextBox 12"/>
          <p:cNvSpPr txBox="1"/>
          <p:nvPr/>
        </p:nvSpPr>
        <p:spPr>
          <a:xfrm>
            <a:off x="8686800" y="6601968"/>
            <a:ext cx="2953512" cy="228600"/>
          </a:xfrm>
          <a:prstGeom prst="rect">
            <a:avLst/>
          </a:prstGeom>
          <a:noFill/>
        </p:spPr>
        <p:txBody>
          <a:bodyPr wrap="square" anchor="t">
            <a:spAutoFit/>
          </a:bodyPr>
          <a:lstStyle/>
          <a:p>
            <a:pPr algn="r"/>
            <a:r>
              <a:rPr sz="950" b="0" i="0">
                <a:solidFill>
                  <a:srgbClr val="6E6E6E"/>
                </a:solidFill>
                <a:latin typeface="Calibri"/>
              </a:rPr>
              <a:t>Confidential — Western Cape Bioregion Fire Assessment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
          </a:xfrm>
          <a:prstGeom prst="rect">
            <a:avLst/>
          </a:prstGeom>
          <a:solidFill>
            <a:srgbClr val="AA1D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56032"/>
            <a:ext cx="8686800" cy="274320"/>
          </a:xfrm>
          <a:prstGeom prst="rect">
            <a:avLst/>
          </a:prstGeom>
          <a:noFill/>
        </p:spPr>
        <p:txBody>
          <a:bodyPr wrap="square" anchor="t">
            <a:spAutoFit/>
          </a:bodyPr>
          <a:lstStyle/>
          <a:p>
            <a:pPr algn="l"/>
            <a:r>
              <a:rPr sz="1300" b="1" i="0">
                <a:solidFill>
                  <a:srgbClr val="AA1D13"/>
                </a:solidFill>
                <a:latin typeface="Calibri"/>
              </a:rPr>
              <a:t>FINDING 1 OF 3</a:t>
            </a:r>
          </a:p>
        </p:txBody>
      </p:sp>
      <p:sp>
        <p:nvSpPr>
          <p:cNvPr id="5" name="TextBox 4"/>
          <p:cNvSpPr txBox="1"/>
          <p:nvPr/>
        </p:nvSpPr>
        <p:spPr>
          <a:xfrm>
            <a:off x="548640" y="530352"/>
            <a:ext cx="9601200" cy="548640"/>
          </a:xfrm>
          <a:prstGeom prst="rect">
            <a:avLst/>
          </a:prstGeom>
          <a:noFill/>
        </p:spPr>
        <p:txBody>
          <a:bodyPr wrap="square" anchor="t">
            <a:spAutoFit/>
          </a:bodyPr>
          <a:lstStyle/>
          <a:p>
            <a:pPr algn="l"/>
            <a:r>
              <a:rPr sz="2600" b="1" i="0">
                <a:solidFill>
                  <a:srgbClr val="262626"/>
                </a:solidFill>
                <a:latin typeface="Calibri"/>
              </a:rPr>
              <a:t>Ignition Frequency by Bioregion</a:t>
            </a:r>
          </a:p>
        </p:txBody>
      </p:sp>
      <p:pic>
        <p:nvPicPr>
          <p:cNvPr id="6" name="Picture 5" descr="logo_bird.png"/>
          <p:cNvPicPr>
            <a:picLocks noChangeAspect="1"/>
          </p:cNvPicPr>
          <p:nvPr/>
        </p:nvPicPr>
        <p:blipFill>
          <a:blip r:embed="rId3"/>
          <a:stretch>
            <a:fillRect/>
          </a:stretch>
        </p:blipFill>
        <p:spPr>
          <a:xfrm>
            <a:off x="10698480" y="292608"/>
            <a:ext cx="1052263" cy="438912"/>
          </a:xfrm>
          <a:prstGeom prst="rect">
            <a:avLst/>
          </a:prstGeom>
        </p:spPr>
      </p:pic>
      <p:sp>
        <p:nvSpPr>
          <p:cNvPr id="7" name="Rectangle 6"/>
          <p:cNvSpPr/>
          <p:nvPr/>
        </p:nvSpPr>
        <p:spPr>
          <a:xfrm>
            <a:off x="0" y="1078992"/>
            <a:ext cx="12191695" cy="12700"/>
          </a:xfrm>
          <a:prstGeom prst="rect">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conservation_map1_ignition_count.png"/>
          <p:cNvPicPr>
            <a:picLocks noChangeAspect="1"/>
          </p:cNvPicPr>
          <p:nvPr/>
        </p:nvPicPr>
        <p:blipFill>
          <a:blip r:embed="rId4"/>
          <a:stretch>
            <a:fillRect/>
          </a:stretch>
        </p:blipFill>
        <p:spPr>
          <a:xfrm>
            <a:off x="1323716" y="1325880"/>
            <a:ext cx="5307848" cy="4892040"/>
          </a:xfrm>
          <a:prstGeom prst="rect">
            <a:avLst/>
          </a:prstGeom>
        </p:spPr>
      </p:pic>
      <p:sp>
        <p:nvSpPr>
          <p:cNvPr id="9" name="Rectangle 8"/>
          <p:cNvSpPr/>
          <p:nvPr/>
        </p:nvSpPr>
        <p:spPr>
          <a:xfrm>
            <a:off x="1323716" y="1325880"/>
            <a:ext cx="5307848" cy="4892040"/>
          </a:xfrm>
          <a:prstGeom prst="rect">
            <a:avLst/>
          </a:prstGeom>
          <a:noFill/>
          <a:ln w="9525">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6272784"/>
            <a:ext cx="6858000" cy="320040"/>
          </a:xfrm>
          <a:prstGeom prst="rect">
            <a:avLst/>
          </a:prstGeom>
          <a:noFill/>
        </p:spPr>
        <p:txBody>
          <a:bodyPr wrap="square" anchor="t">
            <a:spAutoFit/>
          </a:bodyPr>
          <a:lstStyle/>
          <a:p>
            <a:pPr algn="ctr"/>
            <a:r>
              <a:rPr sz="1150" b="0" i="1">
                <a:solidFill>
                  <a:srgbClr val="6E6E6E"/>
                </a:solidFill>
                <a:latin typeface="Calibri"/>
              </a:rPr>
              <a:t>Ignition count per bioregion, 2012–2026, log scale (n = 4,631 matched ignitions)</a:t>
            </a:r>
          </a:p>
        </p:txBody>
      </p:sp>
      <p:sp>
        <p:nvSpPr>
          <p:cNvPr id="11" name="TextBox 10"/>
          <p:cNvSpPr txBox="1"/>
          <p:nvPr/>
        </p:nvSpPr>
        <p:spPr>
          <a:xfrm>
            <a:off x="7635240" y="1463040"/>
            <a:ext cx="4023360" cy="4572000"/>
          </a:xfrm>
          <a:prstGeom prst="rect">
            <a:avLst/>
          </a:prstGeom>
          <a:noFill/>
        </p:spPr>
        <p:txBody>
          <a:bodyPr wrap="square">
            <a:spAutoFit/>
          </a:bodyPr>
          <a:lstStyle/>
          <a:p>
            <a:pPr>
              <a:spcAft>
                <a:spcPts val="1300"/>
              </a:spcAft>
            </a:pPr>
            <a:r>
              <a:rPr sz="1500">
                <a:solidFill>
                  <a:srgbClr val="262626"/>
                </a:solidFill>
                <a:latin typeface="Calibri"/>
              </a:rPr>
              <a:t>•  Fynbos absorbs 4,240 of the record's 4,631 matched ignitions — 92% of every fire in this assessment, on the province's largest bioregion by area</a:t>
            </a:r>
          </a:p>
          <a:p>
            <a:pPr>
              <a:spcAft>
                <a:spcPts val="1300"/>
              </a:spcAft>
            </a:pPr>
            <a:r>
              <a:rPr sz="1500">
                <a:solidFill>
                  <a:srgbClr val="262626"/>
                </a:solidFill>
                <a:latin typeface="Calibri"/>
              </a:rPr>
              <a:t>•  Nama-Karoo (100), Albany Thicket (98), and Azonal Vegetation (77) follow, all far smaller in scale</a:t>
            </a:r>
          </a:p>
          <a:p>
            <a:pPr>
              <a:spcAft>
                <a:spcPts val="1300"/>
              </a:spcAft>
            </a:pPr>
            <a:r>
              <a:rPr sz="1500">
                <a:solidFill>
                  <a:srgbClr val="262626"/>
                </a:solidFill>
                <a:latin typeface="Calibri"/>
              </a:rPr>
              <a:t>•  Grassland (13) and Forests (29) are marked with an asterisk — small enough that a single unusual year can swing the numbers a long way</a:t>
            </a:r>
          </a:p>
          <a:p>
            <a:pPr>
              <a:spcAft>
                <a:spcPts val="1300"/>
              </a:spcAft>
            </a:pPr>
            <a:r>
              <a:rPr sz="1500">
                <a:solidFill>
                  <a:srgbClr val="262626"/>
                </a:solidFill>
                <a:latin typeface="Calibri"/>
              </a:rPr>
              <a:t>•  Frequency alone says almost nothing about the smaller bioregions — that's what the next two maps are for</a:t>
            </a:r>
          </a:p>
        </p:txBody>
      </p:sp>
      <p:sp>
        <p:nvSpPr>
          <p:cNvPr id="12" name="Rectangle 11"/>
          <p:cNvSpPr/>
          <p:nvPr/>
        </p:nvSpPr>
        <p:spPr>
          <a:xfrm>
            <a:off x="0" y="6565392"/>
            <a:ext cx="12191695" cy="9525"/>
          </a:xfrm>
          <a:prstGeom prst="rect">
            <a:avLst/>
          </a:prstGeom>
          <a:solidFill>
            <a:srgbClr val="F2F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48640" y="6601968"/>
            <a:ext cx="5486400" cy="228600"/>
          </a:xfrm>
          <a:prstGeom prst="rect">
            <a:avLst/>
          </a:prstGeom>
          <a:noFill/>
        </p:spPr>
        <p:txBody>
          <a:bodyPr wrap="square" anchor="t">
            <a:spAutoFit/>
          </a:bodyPr>
          <a:lstStyle/>
          <a:p>
            <a:pPr algn="l"/>
            <a:r>
              <a:rPr sz="950" b="0" i="0">
                <a:solidFill>
                  <a:srgbClr val="6E6E6E"/>
                </a:solidFill>
                <a:latin typeface="Calibri"/>
              </a:rPr>
              <a:t>RISKSCAPE  |  Spatial Actuarial Technologies</a:t>
            </a:r>
          </a:p>
        </p:txBody>
      </p:sp>
      <p:sp>
        <p:nvSpPr>
          <p:cNvPr id="14" name="TextBox 13"/>
          <p:cNvSpPr txBox="1"/>
          <p:nvPr/>
        </p:nvSpPr>
        <p:spPr>
          <a:xfrm>
            <a:off x="8686800" y="6601968"/>
            <a:ext cx="2953512" cy="228600"/>
          </a:xfrm>
          <a:prstGeom prst="rect">
            <a:avLst/>
          </a:prstGeom>
          <a:noFill/>
        </p:spPr>
        <p:txBody>
          <a:bodyPr wrap="square" anchor="t">
            <a:spAutoFit/>
          </a:bodyPr>
          <a:lstStyle/>
          <a:p>
            <a:pPr algn="r"/>
            <a:r>
              <a:rPr sz="950" b="0" i="0">
                <a:solidFill>
                  <a:srgbClr val="6E6E6E"/>
                </a:solidFill>
                <a:latin typeface="Calibri"/>
              </a:rPr>
              <a:t>Confidential — Western Cape Bioregion Fire Assessment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
          </a:xfrm>
          <a:prstGeom prst="rect">
            <a:avLst/>
          </a:prstGeom>
          <a:solidFill>
            <a:srgbClr val="AA1D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56032"/>
            <a:ext cx="8686800" cy="274320"/>
          </a:xfrm>
          <a:prstGeom prst="rect">
            <a:avLst/>
          </a:prstGeom>
          <a:noFill/>
        </p:spPr>
        <p:txBody>
          <a:bodyPr wrap="square" anchor="t">
            <a:spAutoFit/>
          </a:bodyPr>
          <a:lstStyle/>
          <a:p>
            <a:pPr algn="l"/>
            <a:r>
              <a:rPr sz="1300" b="1" i="0">
                <a:solidFill>
                  <a:srgbClr val="AA1D13"/>
                </a:solidFill>
                <a:latin typeface="Calibri"/>
              </a:rPr>
              <a:t>FINDING 2 OF 3</a:t>
            </a:r>
          </a:p>
        </p:txBody>
      </p:sp>
      <p:sp>
        <p:nvSpPr>
          <p:cNvPr id="5" name="TextBox 4"/>
          <p:cNvSpPr txBox="1"/>
          <p:nvPr/>
        </p:nvSpPr>
        <p:spPr>
          <a:xfrm>
            <a:off x="548640" y="530352"/>
            <a:ext cx="9601200" cy="548640"/>
          </a:xfrm>
          <a:prstGeom prst="rect">
            <a:avLst/>
          </a:prstGeom>
          <a:noFill/>
        </p:spPr>
        <p:txBody>
          <a:bodyPr wrap="square" anchor="t">
            <a:spAutoFit/>
          </a:bodyPr>
          <a:lstStyle/>
          <a:p>
            <a:pPr algn="l"/>
            <a:r>
              <a:rPr sz="2600" b="1" i="0">
                <a:solidFill>
                  <a:srgbClr val="262626"/>
                </a:solidFill>
                <a:latin typeface="Calibri"/>
              </a:rPr>
              <a:t>Mean Severity by Bioregion</a:t>
            </a:r>
          </a:p>
        </p:txBody>
      </p:sp>
      <p:pic>
        <p:nvPicPr>
          <p:cNvPr id="6" name="Picture 5" descr="logo_bird.png"/>
          <p:cNvPicPr>
            <a:picLocks noChangeAspect="1"/>
          </p:cNvPicPr>
          <p:nvPr/>
        </p:nvPicPr>
        <p:blipFill>
          <a:blip r:embed="rId3"/>
          <a:stretch>
            <a:fillRect/>
          </a:stretch>
        </p:blipFill>
        <p:spPr>
          <a:xfrm>
            <a:off x="10698480" y="292608"/>
            <a:ext cx="1052263" cy="438912"/>
          </a:xfrm>
          <a:prstGeom prst="rect">
            <a:avLst/>
          </a:prstGeom>
        </p:spPr>
      </p:pic>
      <p:sp>
        <p:nvSpPr>
          <p:cNvPr id="7" name="Rectangle 6"/>
          <p:cNvSpPr/>
          <p:nvPr/>
        </p:nvSpPr>
        <p:spPr>
          <a:xfrm>
            <a:off x="0" y="1078992"/>
            <a:ext cx="12191695" cy="12700"/>
          </a:xfrm>
          <a:prstGeom prst="rect">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conservation_map2_severity.png"/>
          <p:cNvPicPr>
            <a:picLocks noChangeAspect="1"/>
          </p:cNvPicPr>
          <p:nvPr/>
        </p:nvPicPr>
        <p:blipFill>
          <a:blip r:embed="rId4"/>
          <a:stretch>
            <a:fillRect/>
          </a:stretch>
        </p:blipFill>
        <p:spPr>
          <a:xfrm>
            <a:off x="1318579" y="1325880"/>
            <a:ext cx="5318121" cy="4892040"/>
          </a:xfrm>
          <a:prstGeom prst="rect">
            <a:avLst/>
          </a:prstGeom>
        </p:spPr>
      </p:pic>
      <p:sp>
        <p:nvSpPr>
          <p:cNvPr id="9" name="Rectangle 8"/>
          <p:cNvSpPr/>
          <p:nvPr/>
        </p:nvSpPr>
        <p:spPr>
          <a:xfrm>
            <a:off x="1318579" y="1325880"/>
            <a:ext cx="5318121" cy="4892040"/>
          </a:xfrm>
          <a:prstGeom prst="rect">
            <a:avLst/>
          </a:prstGeom>
          <a:noFill/>
          <a:ln w="9525">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6272784"/>
            <a:ext cx="6858000" cy="320040"/>
          </a:xfrm>
          <a:prstGeom prst="rect">
            <a:avLst/>
          </a:prstGeom>
          <a:noFill/>
        </p:spPr>
        <p:txBody>
          <a:bodyPr wrap="square" anchor="t">
            <a:spAutoFit/>
          </a:bodyPr>
          <a:lstStyle/>
          <a:p>
            <a:pPr algn="ctr"/>
            <a:r>
              <a:rPr sz="1150" b="0" i="1">
                <a:solidFill>
                  <a:srgbClr val="6E6E6E"/>
                </a:solidFill>
                <a:latin typeface="Calibri"/>
              </a:rPr>
              <a:t>Zonal mean severity (summer), per bioregion</a:t>
            </a:r>
          </a:p>
        </p:txBody>
      </p:sp>
      <p:sp>
        <p:nvSpPr>
          <p:cNvPr id="11" name="TextBox 10"/>
          <p:cNvSpPr txBox="1"/>
          <p:nvPr/>
        </p:nvSpPr>
        <p:spPr>
          <a:xfrm>
            <a:off x="7635240" y="1463040"/>
            <a:ext cx="4023360" cy="4572000"/>
          </a:xfrm>
          <a:prstGeom prst="rect">
            <a:avLst/>
          </a:prstGeom>
          <a:noFill/>
        </p:spPr>
        <p:txBody>
          <a:bodyPr wrap="square">
            <a:spAutoFit/>
          </a:bodyPr>
          <a:lstStyle/>
          <a:p>
            <a:pPr>
              <a:spcAft>
                <a:spcPts val="1300"/>
              </a:spcAft>
            </a:pPr>
            <a:r>
              <a:rPr sz="1500">
                <a:solidFill>
                  <a:srgbClr val="262626"/>
                </a:solidFill>
                <a:latin typeface="Calibri"/>
              </a:rPr>
              <a:t>•  Grassland returns the single highest mean severity of any bioregion (1.84) — but on a base of only 13 recorded fires</a:t>
            </a:r>
          </a:p>
          <a:p>
            <a:pPr>
              <a:spcAft>
                <a:spcPts val="1300"/>
              </a:spcAft>
            </a:pPr>
            <a:r>
              <a:rPr sz="1500">
                <a:solidFill>
                  <a:srgbClr val="262626"/>
                </a:solidFill>
                <a:latin typeface="Calibri"/>
              </a:rPr>
              <a:t>•  Nama-Karoo is a close second (1.82) on a much larger base of 100 fires — the more statistically credible 'high severity' case</a:t>
            </a:r>
          </a:p>
          <a:p>
            <a:pPr>
              <a:spcAft>
                <a:spcPts val="1300"/>
              </a:spcAft>
            </a:pPr>
            <a:r>
              <a:rPr sz="1500">
                <a:solidFill>
                  <a:srgbClr val="262626"/>
                </a:solidFill>
                <a:latin typeface="Calibri"/>
              </a:rPr>
              <a:t>•  Fynbos sits in the middle of the range (1.49) despite dominating every frequency count</a:t>
            </a:r>
          </a:p>
          <a:p>
            <a:pPr>
              <a:spcAft>
                <a:spcPts val="1300"/>
              </a:spcAft>
            </a:pPr>
            <a:r>
              <a:rPr sz="1500">
                <a:solidFill>
                  <a:srgbClr val="262626"/>
                </a:solidFill>
                <a:latin typeface="Calibri"/>
              </a:rPr>
              <a:t>•  Azonal Vegetation is the least severe on average of the seven (1.34)</a:t>
            </a:r>
          </a:p>
        </p:txBody>
      </p:sp>
      <p:sp>
        <p:nvSpPr>
          <p:cNvPr id="12" name="Rectangle 11"/>
          <p:cNvSpPr/>
          <p:nvPr/>
        </p:nvSpPr>
        <p:spPr>
          <a:xfrm>
            <a:off x="0" y="6565392"/>
            <a:ext cx="12191695" cy="9525"/>
          </a:xfrm>
          <a:prstGeom prst="rect">
            <a:avLst/>
          </a:prstGeom>
          <a:solidFill>
            <a:srgbClr val="F2F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48640" y="6601968"/>
            <a:ext cx="5486400" cy="228600"/>
          </a:xfrm>
          <a:prstGeom prst="rect">
            <a:avLst/>
          </a:prstGeom>
          <a:noFill/>
        </p:spPr>
        <p:txBody>
          <a:bodyPr wrap="square" anchor="t">
            <a:spAutoFit/>
          </a:bodyPr>
          <a:lstStyle/>
          <a:p>
            <a:pPr algn="l"/>
            <a:r>
              <a:rPr sz="950" b="0" i="0">
                <a:solidFill>
                  <a:srgbClr val="6E6E6E"/>
                </a:solidFill>
                <a:latin typeface="Calibri"/>
              </a:rPr>
              <a:t>RISKSCAPE  |  Spatial Actuarial Technologies</a:t>
            </a:r>
          </a:p>
        </p:txBody>
      </p:sp>
      <p:sp>
        <p:nvSpPr>
          <p:cNvPr id="14" name="TextBox 13"/>
          <p:cNvSpPr txBox="1"/>
          <p:nvPr/>
        </p:nvSpPr>
        <p:spPr>
          <a:xfrm>
            <a:off x="8686800" y="6601968"/>
            <a:ext cx="2953512" cy="228600"/>
          </a:xfrm>
          <a:prstGeom prst="rect">
            <a:avLst/>
          </a:prstGeom>
          <a:noFill/>
        </p:spPr>
        <p:txBody>
          <a:bodyPr wrap="square" anchor="t">
            <a:spAutoFit/>
          </a:bodyPr>
          <a:lstStyle/>
          <a:p>
            <a:pPr algn="r"/>
            <a:r>
              <a:rPr sz="950" b="0" i="0">
                <a:solidFill>
                  <a:srgbClr val="6E6E6E"/>
                </a:solidFill>
                <a:latin typeface="Calibri"/>
              </a:rPr>
              <a:t>Confidential — Western Cape Bioregion Fire Assessment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
          </a:xfrm>
          <a:prstGeom prst="rect">
            <a:avLst/>
          </a:prstGeom>
          <a:solidFill>
            <a:srgbClr val="AA1D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56032"/>
            <a:ext cx="8686800" cy="274320"/>
          </a:xfrm>
          <a:prstGeom prst="rect">
            <a:avLst/>
          </a:prstGeom>
          <a:noFill/>
        </p:spPr>
        <p:txBody>
          <a:bodyPr wrap="square" anchor="t">
            <a:spAutoFit/>
          </a:bodyPr>
          <a:lstStyle/>
          <a:p>
            <a:pPr algn="l"/>
            <a:r>
              <a:rPr sz="1300" b="1" i="0">
                <a:solidFill>
                  <a:srgbClr val="AA1D13"/>
                </a:solidFill>
                <a:latin typeface="Calibri"/>
              </a:rPr>
              <a:t>FINDING 3 OF 3</a:t>
            </a:r>
          </a:p>
        </p:txBody>
      </p:sp>
      <p:sp>
        <p:nvSpPr>
          <p:cNvPr id="5" name="TextBox 4"/>
          <p:cNvSpPr txBox="1"/>
          <p:nvPr/>
        </p:nvSpPr>
        <p:spPr>
          <a:xfrm>
            <a:off x="548640" y="530352"/>
            <a:ext cx="9601200" cy="548640"/>
          </a:xfrm>
          <a:prstGeom prst="rect">
            <a:avLst/>
          </a:prstGeom>
          <a:noFill/>
        </p:spPr>
        <p:txBody>
          <a:bodyPr wrap="square" anchor="t">
            <a:spAutoFit/>
          </a:bodyPr>
          <a:lstStyle/>
          <a:p>
            <a:pPr algn="l"/>
            <a:r>
              <a:rPr sz="2600" b="1" i="0">
                <a:solidFill>
                  <a:srgbClr val="262626"/>
                </a:solidFill>
                <a:latin typeface="Calibri"/>
              </a:rPr>
              <a:t>Is Fire Frequency Changing Over Time?</a:t>
            </a:r>
          </a:p>
        </p:txBody>
      </p:sp>
      <p:pic>
        <p:nvPicPr>
          <p:cNvPr id="6" name="Picture 5" descr="logo_bird.png"/>
          <p:cNvPicPr>
            <a:picLocks noChangeAspect="1"/>
          </p:cNvPicPr>
          <p:nvPr/>
        </p:nvPicPr>
        <p:blipFill>
          <a:blip r:embed="rId3"/>
          <a:stretch>
            <a:fillRect/>
          </a:stretch>
        </p:blipFill>
        <p:spPr>
          <a:xfrm>
            <a:off x="10698480" y="292608"/>
            <a:ext cx="1052263" cy="438912"/>
          </a:xfrm>
          <a:prstGeom prst="rect">
            <a:avLst/>
          </a:prstGeom>
        </p:spPr>
      </p:pic>
      <p:sp>
        <p:nvSpPr>
          <p:cNvPr id="7" name="Rectangle 6"/>
          <p:cNvSpPr/>
          <p:nvPr/>
        </p:nvSpPr>
        <p:spPr>
          <a:xfrm>
            <a:off x="0" y="1078992"/>
            <a:ext cx="12191695" cy="12700"/>
          </a:xfrm>
          <a:prstGeom prst="rect">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conservation_map3_decade_trend.png"/>
          <p:cNvPicPr>
            <a:picLocks noChangeAspect="1"/>
          </p:cNvPicPr>
          <p:nvPr/>
        </p:nvPicPr>
        <p:blipFill>
          <a:blip r:embed="rId4"/>
          <a:stretch>
            <a:fillRect/>
          </a:stretch>
        </p:blipFill>
        <p:spPr>
          <a:xfrm>
            <a:off x="1318579" y="1325880"/>
            <a:ext cx="5318121" cy="4892040"/>
          </a:xfrm>
          <a:prstGeom prst="rect">
            <a:avLst/>
          </a:prstGeom>
        </p:spPr>
      </p:pic>
      <p:sp>
        <p:nvSpPr>
          <p:cNvPr id="9" name="Rectangle 8"/>
          <p:cNvSpPr/>
          <p:nvPr/>
        </p:nvSpPr>
        <p:spPr>
          <a:xfrm>
            <a:off x="1318579" y="1325880"/>
            <a:ext cx="5318121" cy="4892040"/>
          </a:xfrm>
          <a:prstGeom prst="rect">
            <a:avLst/>
          </a:prstGeom>
          <a:noFill/>
          <a:ln w="9525">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6272784"/>
            <a:ext cx="6858000" cy="320040"/>
          </a:xfrm>
          <a:prstGeom prst="rect">
            <a:avLst/>
          </a:prstGeom>
          <a:noFill/>
        </p:spPr>
        <p:txBody>
          <a:bodyPr wrap="square" anchor="t">
            <a:spAutoFit/>
          </a:bodyPr>
          <a:lstStyle/>
          <a:p>
            <a:pPr algn="ctr"/>
            <a:r>
              <a:rPr sz="1150" b="0" i="1">
                <a:solidFill>
                  <a:srgbClr val="6E6E6E"/>
                </a:solidFill>
                <a:latin typeface="Calibri"/>
              </a:rPr>
              <a:t>Change in annualised ignition rate, 2020–2025 vs. 2012–2019</a:t>
            </a:r>
          </a:p>
        </p:txBody>
      </p:sp>
      <p:sp>
        <p:nvSpPr>
          <p:cNvPr id="11" name="TextBox 10"/>
          <p:cNvSpPr txBox="1"/>
          <p:nvPr/>
        </p:nvSpPr>
        <p:spPr>
          <a:xfrm>
            <a:off x="7635240" y="1463040"/>
            <a:ext cx="4023360" cy="4572000"/>
          </a:xfrm>
          <a:prstGeom prst="rect">
            <a:avLst/>
          </a:prstGeom>
          <a:noFill/>
        </p:spPr>
        <p:txBody>
          <a:bodyPr wrap="square">
            <a:spAutoFit/>
          </a:bodyPr>
          <a:lstStyle/>
          <a:p>
            <a:pPr>
              <a:spcAft>
                <a:spcPts val="1300"/>
              </a:spcAft>
            </a:pPr>
            <a:r>
              <a:rPr sz="1500">
                <a:solidFill>
                  <a:srgbClr val="262626"/>
                </a:solidFill>
                <a:latin typeface="Calibri"/>
              </a:rPr>
              <a:t>•  Succulent Karoo is the only bioregion trending upward — annualised ignitions rose an estimated 19% from the 2010s to the 2020s</a:t>
            </a:r>
          </a:p>
          <a:p>
            <a:pPr>
              <a:spcAft>
                <a:spcPts val="1300"/>
              </a:spcAft>
            </a:pPr>
            <a:r>
              <a:rPr sz="1500">
                <a:solidFill>
                  <a:srgbClr val="262626"/>
                </a:solidFill>
                <a:latin typeface="Calibri"/>
              </a:rPr>
              <a:t>•  Every other bioregion declined, led by Grassland (-89%, small sample) and Nama-Karoo (-67%)</a:t>
            </a:r>
          </a:p>
          <a:p>
            <a:pPr>
              <a:spcAft>
                <a:spcPts val="1300"/>
              </a:spcAft>
            </a:pPr>
            <a:r>
              <a:rPr sz="1500">
                <a:solidFill>
                  <a:srgbClr val="262626"/>
                </a:solidFill>
                <a:latin typeface="Calibri"/>
              </a:rPr>
              <a:t>•  Fynbos, the dominant bioregion by scale, declined a more modest 15%</a:t>
            </a:r>
          </a:p>
          <a:p>
            <a:pPr>
              <a:spcAft>
                <a:spcPts val="1300"/>
              </a:spcAft>
            </a:pPr>
            <a:r>
              <a:rPr sz="1500">
                <a:solidFill>
                  <a:srgbClr val="262626"/>
                </a:solidFill>
                <a:latin typeface="Calibri"/>
              </a:rPr>
              <a:t>•  A decline elsewhere doesn't offset a rise — Succulent Karoo is the one bioregion whose trajectory is moving the wrong way</a:t>
            </a:r>
          </a:p>
        </p:txBody>
      </p:sp>
      <p:sp>
        <p:nvSpPr>
          <p:cNvPr id="12" name="Rectangle 11"/>
          <p:cNvSpPr/>
          <p:nvPr/>
        </p:nvSpPr>
        <p:spPr>
          <a:xfrm>
            <a:off x="0" y="6565392"/>
            <a:ext cx="12191695" cy="9525"/>
          </a:xfrm>
          <a:prstGeom prst="rect">
            <a:avLst/>
          </a:prstGeom>
          <a:solidFill>
            <a:srgbClr val="F2F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48640" y="6601968"/>
            <a:ext cx="5486400" cy="228600"/>
          </a:xfrm>
          <a:prstGeom prst="rect">
            <a:avLst/>
          </a:prstGeom>
          <a:noFill/>
        </p:spPr>
        <p:txBody>
          <a:bodyPr wrap="square" anchor="t">
            <a:spAutoFit/>
          </a:bodyPr>
          <a:lstStyle/>
          <a:p>
            <a:pPr algn="l"/>
            <a:r>
              <a:rPr sz="950" b="0" i="0">
                <a:solidFill>
                  <a:srgbClr val="6E6E6E"/>
                </a:solidFill>
                <a:latin typeface="Calibri"/>
              </a:rPr>
              <a:t>RISKSCAPE  |  Spatial Actuarial Technologies</a:t>
            </a:r>
          </a:p>
        </p:txBody>
      </p:sp>
      <p:sp>
        <p:nvSpPr>
          <p:cNvPr id="14" name="TextBox 13"/>
          <p:cNvSpPr txBox="1"/>
          <p:nvPr/>
        </p:nvSpPr>
        <p:spPr>
          <a:xfrm>
            <a:off x="8686800" y="6601968"/>
            <a:ext cx="2953512" cy="228600"/>
          </a:xfrm>
          <a:prstGeom prst="rect">
            <a:avLst/>
          </a:prstGeom>
          <a:noFill/>
        </p:spPr>
        <p:txBody>
          <a:bodyPr wrap="square" anchor="t">
            <a:spAutoFit/>
          </a:bodyPr>
          <a:lstStyle/>
          <a:p>
            <a:pPr algn="r"/>
            <a:r>
              <a:rPr sz="950" b="0" i="0">
                <a:solidFill>
                  <a:srgbClr val="6E6E6E"/>
                </a:solidFill>
                <a:latin typeface="Calibri"/>
              </a:rPr>
              <a:t>Confidential — Western Cape Bioregion Fire Assessment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
          </a:xfrm>
          <a:prstGeom prst="rect">
            <a:avLst/>
          </a:prstGeom>
          <a:solidFill>
            <a:srgbClr val="AA1D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56032"/>
            <a:ext cx="8686800" cy="274320"/>
          </a:xfrm>
          <a:prstGeom prst="rect">
            <a:avLst/>
          </a:prstGeom>
          <a:noFill/>
        </p:spPr>
        <p:txBody>
          <a:bodyPr wrap="square" anchor="t">
            <a:spAutoFit/>
          </a:bodyPr>
          <a:lstStyle/>
          <a:p>
            <a:pPr algn="l"/>
            <a:r>
              <a:rPr sz="1300" b="1" i="0">
                <a:solidFill>
                  <a:srgbClr val="AA1D13"/>
                </a:solidFill>
                <a:latin typeface="Calibri"/>
              </a:rPr>
              <a:t>RECOMMENDATION</a:t>
            </a:r>
          </a:p>
        </p:txBody>
      </p:sp>
      <p:sp>
        <p:nvSpPr>
          <p:cNvPr id="5" name="TextBox 4"/>
          <p:cNvSpPr txBox="1"/>
          <p:nvPr/>
        </p:nvSpPr>
        <p:spPr>
          <a:xfrm>
            <a:off x="548640" y="530352"/>
            <a:ext cx="9601200" cy="548640"/>
          </a:xfrm>
          <a:prstGeom prst="rect">
            <a:avLst/>
          </a:prstGeom>
          <a:noFill/>
        </p:spPr>
        <p:txBody>
          <a:bodyPr wrap="square" anchor="t">
            <a:spAutoFit/>
          </a:bodyPr>
          <a:lstStyle/>
          <a:p>
            <a:pPr algn="l"/>
            <a:r>
              <a:rPr sz="2600" b="1" i="0">
                <a:solidFill>
                  <a:srgbClr val="262626"/>
                </a:solidFill>
                <a:latin typeface="Calibri"/>
              </a:rPr>
              <a:t>Where Monitoring Effort Should Go First</a:t>
            </a:r>
          </a:p>
        </p:txBody>
      </p:sp>
      <p:pic>
        <p:nvPicPr>
          <p:cNvPr id="6" name="Picture 5" descr="logo_bird.png"/>
          <p:cNvPicPr>
            <a:picLocks noChangeAspect="1"/>
          </p:cNvPicPr>
          <p:nvPr/>
        </p:nvPicPr>
        <p:blipFill>
          <a:blip r:embed="rId3"/>
          <a:stretch>
            <a:fillRect/>
          </a:stretch>
        </p:blipFill>
        <p:spPr>
          <a:xfrm>
            <a:off x="10698480" y="292608"/>
            <a:ext cx="1052263" cy="438912"/>
          </a:xfrm>
          <a:prstGeom prst="rect">
            <a:avLst/>
          </a:prstGeom>
        </p:spPr>
      </p:pic>
      <p:sp>
        <p:nvSpPr>
          <p:cNvPr id="7" name="Rectangle 6"/>
          <p:cNvSpPr/>
          <p:nvPr/>
        </p:nvSpPr>
        <p:spPr>
          <a:xfrm>
            <a:off x="0" y="1078992"/>
            <a:ext cx="12191695" cy="12700"/>
          </a:xfrm>
          <a:prstGeom prst="rect">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Table 7"/>
          <p:cNvGraphicFramePr>
            <a:graphicFrameLocks noGrp="1"/>
          </p:cNvGraphicFramePr>
          <p:nvPr/>
        </p:nvGraphicFramePr>
        <p:xfrm>
          <a:off x="457200" y="1371600"/>
          <a:ext cx="8778240" cy="4434840"/>
        </p:xfrm>
        <a:graphic>
          <a:graphicData uri="http://schemas.openxmlformats.org/drawingml/2006/table">
            <a:tbl>
              <a:tblPr firstRow="1" bandRow="1">
                <a:tableStyleId>{5C22544A-7EE6-4342-B048-85BDC9FD1C3A}</a:tableStyleId>
              </a:tblPr>
              <a:tblGrid>
                <a:gridCol w="192024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3017520">
                  <a:extLst>
                    <a:ext uri="{9D8B030D-6E8A-4147-A177-3AD203B41FA5}">
                      <a16:colId xmlns:a16="http://schemas.microsoft.com/office/drawing/2014/main" val="20004"/>
                    </a:ext>
                  </a:extLst>
                </a:gridCol>
              </a:tblGrid>
              <a:tr h="554355">
                <a:tc>
                  <a:txBody>
                    <a:bodyPr/>
                    <a:lstStyle/>
                    <a:p>
                      <a:pPr algn="ctr"/>
                      <a:r>
                        <a:rPr sz="1300" b="1">
                          <a:solidFill>
                            <a:srgbClr val="FFFFFF"/>
                          </a:solidFill>
                        </a:rPr>
                        <a:t>Bioregion</a:t>
                      </a:r>
                    </a:p>
                  </a:txBody>
                  <a:tcPr>
                    <a:solidFill>
                      <a:srgbClr val="262626"/>
                    </a:solidFill>
                  </a:tcPr>
                </a:tc>
                <a:tc>
                  <a:txBody>
                    <a:bodyPr/>
                    <a:lstStyle/>
                    <a:p>
                      <a:pPr algn="ctr"/>
                      <a:r>
                        <a:rPr sz="1300" b="1">
                          <a:solidFill>
                            <a:srgbClr val="FFFFFF"/>
                          </a:solidFill>
                        </a:rPr>
                        <a:t>Ignitions</a:t>
                      </a:r>
                    </a:p>
                  </a:txBody>
                  <a:tcPr>
                    <a:solidFill>
                      <a:srgbClr val="262626"/>
                    </a:solidFill>
                  </a:tcPr>
                </a:tc>
                <a:tc>
                  <a:txBody>
                    <a:bodyPr/>
                    <a:lstStyle/>
                    <a:p>
                      <a:pPr algn="ctr"/>
                      <a:r>
                        <a:rPr sz="1300" b="1">
                          <a:solidFill>
                            <a:srgbClr val="FFFFFF"/>
                          </a:solidFill>
                        </a:rPr>
                        <a:t>Mean Severity</a:t>
                      </a:r>
                    </a:p>
                  </a:txBody>
                  <a:tcPr>
                    <a:solidFill>
                      <a:srgbClr val="262626"/>
                    </a:solidFill>
                  </a:tcPr>
                </a:tc>
                <a:tc>
                  <a:txBody>
                    <a:bodyPr/>
                    <a:lstStyle/>
                    <a:p>
                      <a:pPr algn="ctr"/>
                      <a:r>
                        <a:rPr sz="1300" b="1">
                          <a:solidFill>
                            <a:srgbClr val="FFFFFF"/>
                          </a:solidFill>
                        </a:rPr>
                        <a:t>2020s Trend</a:t>
                      </a:r>
                    </a:p>
                  </a:txBody>
                  <a:tcPr>
                    <a:solidFill>
                      <a:srgbClr val="262626"/>
                    </a:solidFill>
                  </a:tcPr>
                </a:tc>
                <a:tc>
                  <a:txBody>
                    <a:bodyPr/>
                    <a:lstStyle/>
                    <a:p>
                      <a:pPr algn="ctr"/>
                      <a:r>
                        <a:rPr sz="1300" b="1">
                          <a:solidFill>
                            <a:srgbClr val="FFFFFF"/>
                          </a:solidFill>
                        </a:rPr>
                        <a:t>Priority</a:t>
                      </a:r>
                    </a:p>
                  </a:txBody>
                  <a:tcPr>
                    <a:solidFill>
                      <a:srgbClr val="262626"/>
                    </a:solidFill>
                  </a:tcPr>
                </a:tc>
                <a:extLst>
                  <a:ext uri="{0D108BD9-81ED-4DB2-BD59-A6C34878D82A}">
                    <a16:rowId xmlns:a16="http://schemas.microsoft.com/office/drawing/2014/main" val="10000"/>
                  </a:ext>
                </a:extLst>
              </a:tr>
              <a:tr h="554355">
                <a:tc>
                  <a:txBody>
                    <a:bodyPr/>
                    <a:lstStyle/>
                    <a:p>
                      <a:pPr algn="l"/>
                      <a:r>
                        <a:rPr sz="1250" b="1">
                          <a:solidFill>
                            <a:srgbClr val="AA1D13"/>
                          </a:solidFill>
                        </a:rPr>
                        <a:t>Nama-Karoo</a:t>
                      </a:r>
                    </a:p>
                  </a:txBody>
                  <a:tcPr>
                    <a:solidFill>
                      <a:srgbClr val="F3D8D5"/>
                    </a:solidFill>
                  </a:tcPr>
                </a:tc>
                <a:tc>
                  <a:txBody>
                    <a:bodyPr/>
                    <a:lstStyle/>
                    <a:p>
                      <a:pPr algn="ctr"/>
                      <a:r>
                        <a:rPr sz="1250" b="1">
                          <a:solidFill>
                            <a:srgbClr val="262626"/>
                          </a:solidFill>
                        </a:rPr>
                        <a:t>100</a:t>
                      </a:r>
                    </a:p>
                  </a:txBody>
                  <a:tcPr>
                    <a:solidFill>
                      <a:srgbClr val="F3D8D5"/>
                    </a:solidFill>
                  </a:tcPr>
                </a:tc>
                <a:tc>
                  <a:txBody>
                    <a:bodyPr/>
                    <a:lstStyle/>
                    <a:p>
                      <a:pPr algn="ctr"/>
                      <a:r>
                        <a:rPr sz="1250" b="1">
                          <a:solidFill>
                            <a:srgbClr val="262626"/>
                          </a:solidFill>
                        </a:rPr>
                        <a:t>1.82</a:t>
                      </a:r>
                    </a:p>
                  </a:txBody>
                  <a:tcPr>
                    <a:solidFill>
                      <a:srgbClr val="F3D8D5"/>
                    </a:solidFill>
                  </a:tcPr>
                </a:tc>
                <a:tc>
                  <a:txBody>
                    <a:bodyPr/>
                    <a:lstStyle/>
                    <a:p>
                      <a:pPr algn="ctr"/>
                      <a:r>
                        <a:rPr sz="1250" b="1">
                          <a:solidFill>
                            <a:srgbClr val="262626"/>
                          </a:solidFill>
                        </a:rPr>
                        <a:t>-67%</a:t>
                      </a:r>
                    </a:p>
                  </a:txBody>
                  <a:tcPr>
                    <a:solidFill>
                      <a:srgbClr val="F3D8D5"/>
                    </a:solidFill>
                  </a:tcPr>
                </a:tc>
                <a:tc>
                  <a:txBody>
                    <a:bodyPr/>
                    <a:lstStyle/>
                    <a:p>
                      <a:pPr algn="ctr"/>
                      <a:r>
                        <a:rPr sz="1250" b="1">
                          <a:solidFill>
                            <a:srgbClr val="262626"/>
                          </a:solidFill>
                        </a:rPr>
                        <a:t>High severity — monitor</a:t>
                      </a:r>
                    </a:p>
                  </a:txBody>
                  <a:tcPr>
                    <a:solidFill>
                      <a:srgbClr val="F3D8D5"/>
                    </a:solidFill>
                  </a:tcPr>
                </a:tc>
                <a:extLst>
                  <a:ext uri="{0D108BD9-81ED-4DB2-BD59-A6C34878D82A}">
                    <a16:rowId xmlns:a16="http://schemas.microsoft.com/office/drawing/2014/main" val="10001"/>
                  </a:ext>
                </a:extLst>
              </a:tr>
              <a:tr h="554355">
                <a:tc>
                  <a:txBody>
                    <a:bodyPr/>
                    <a:lstStyle/>
                    <a:p>
                      <a:pPr algn="l"/>
                      <a:r>
                        <a:rPr sz="1250" b="1">
                          <a:solidFill>
                            <a:srgbClr val="AA1D13"/>
                          </a:solidFill>
                        </a:rPr>
                        <a:t>Succulent Karoo</a:t>
                      </a:r>
                    </a:p>
                  </a:txBody>
                  <a:tcPr>
                    <a:solidFill>
                      <a:srgbClr val="F3D8D5"/>
                    </a:solidFill>
                  </a:tcPr>
                </a:tc>
                <a:tc>
                  <a:txBody>
                    <a:bodyPr/>
                    <a:lstStyle/>
                    <a:p>
                      <a:pPr algn="ctr"/>
                      <a:r>
                        <a:rPr sz="1250" b="1">
                          <a:solidFill>
                            <a:srgbClr val="262626"/>
                          </a:solidFill>
                        </a:rPr>
                        <a:t>74</a:t>
                      </a:r>
                    </a:p>
                  </a:txBody>
                  <a:tcPr>
                    <a:solidFill>
                      <a:srgbClr val="F3D8D5"/>
                    </a:solidFill>
                  </a:tcPr>
                </a:tc>
                <a:tc>
                  <a:txBody>
                    <a:bodyPr/>
                    <a:lstStyle/>
                    <a:p>
                      <a:pPr algn="ctr"/>
                      <a:r>
                        <a:rPr sz="1250" b="1">
                          <a:solidFill>
                            <a:srgbClr val="262626"/>
                          </a:solidFill>
                        </a:rPr>
                        <a:t>1.50</a:t>
                      </a:r>
                    </a:p>
                  </a:txBody>
                  <a:tcPr>
                    <a:solidFill>
                      <a:srgbClr val="F3D8D5"/>
                    </a:solidFill>
                  </a:tcPr>
                </a:tc>
                <a:tc>
                  <a:txBody>
                    <a:bodyPr/>
                    <a:lstStyle/>
                    <a:p>
                      <a:pPr algn="ctr"/>
                      <a:r>
                        <a:rPr sz="1250" b="1">
                          <a:solidFill>
                            <a:srgbClr val="262626"/>
                          </a:solidFill>
                        </a:rPr>
                        <a:t>+19%</a:t>
                      </a:r>
                    </a:p>
                  </a:txBody>
                  <a:tcPr>
                    <a:solidFill>
                      <a:srgbClr val="F3D8D5"/>
                    </a:solidFill>
                  </a:tcPr>
                </a:tc>
                <a:tc>
                  <a:txBody>
                    <a:bodyPr/>
                    <a:lstStyle/>
                    <a:p>
                      <a:pPr algn="ctr"/>
                      <a:r>
                        <a:rPr sz="1250" b="1">
                          <a:solidFill>
                            <a:srgbClr val="262626"/>
                          </a:solidFill>
                        </a:rPr>
                        <a:t>Only rising trend — watch</a:t>
                      </a:r>
                    </a:p>
                  </a:txBody>
                  <a:tcPr>
                    <a:solidFill>
                      <a:srgbClr val="F3D8D5"/>
                    </a:solidFill>
                  </a:tcPr>
                </a:tc>
                <a:extLst>
                  <a:ext uri="{0D108BD9-81ED-4DB2-BD59-A6C34878D82A}">
                    <a16:rowId xmlns:a16="http://schemas.microsoft.com/office/drawing/2014/main" val="10002"/>
                  </a:ext>
                </a:extLst>
              </a:tr>
              <a:tr h="554355">
                <a:tc>
                  <a:txBody>
                    <a:bodyPr/>
                    <a:lstStyle/>
                    <a:p>
                      <a:pPr algn="l"/>
                      <a:r>
                        <a:rPr sz="1250" b="0">
                          <a:solidFill>
                            <a:srgbClr val="262626"/>
                          </a:solidFill>
                        </a:rPr>
                        <a:t>Grassland</a:t>
                      </a:r>
                    </a:p>
                  </a:txBody>
                  <a:tcPr>
                    <a:solidFill>
                      <a:srgbClr val="FFFFFF"/>
                    </a:solidFill>
                  </a:tcPr>
                </a:tc>
                <a:tc>
                  <a:txBody>
                    <a:bodyPr/>
                    <a:lstStyle/>
                    <a:p>
                      <a:pPr algn="ctr"/>
                      <a:r>
                        <a:rPr sz="1250" b="0">
                          <a:solidFill>
                            <a:srgbClr val="262626"/>
                          </a:solidFill>
                        </a:rPr>
                        <a:t>13</a:t>
                      </a:r>
                    </a:p>
                  </a:txBody>
                  <a:tcPr>
                    <a:solidFill>
                      <a:srgbClr val="FFFFFF"/>
                    </a:solidFill>
                  </a:tcPr>
                </a:tc>
                <a:tc>
                  <a:txBody>
                    <a:bodyPr/>
                    <a:lstStyle/>
                    <a:p>
                      <a:pPr algn="ctr"/>
                      <a:r>
                        <a:rPr sz="1250" b="0">
                          <a:solidFill>
                            <a:srgbClr val="262626"/>
                          </a:solidFill>
                        </a:rPr>
                        <a:t>1.84</a:t>
                      </a:r>
                    </a:p>
                  </a:txBody>
                  <a:tcPr>
                    <a:solidFill>
                      <a:srgbClr val="FFFFFF"/>
                    </a:solidFill>
                  </a:tcPr>
                </a:tc>
                <a:tc>
                  <a:txBody>
                    <a:bodyPr/>
                    <a:lstStyle/>
                    <a:p>
                      <a:pPr algn="ctr"/>
                      <a:r>
                        <a:rPr sz="1250" b="0">
                          <a:solidFill>
                            <a:srgbClr val="262626"/>
                          </a:solidFill>
                        </a:rPr>
                        <a:t>-89%*</a:t>
                      </a:r>
                    </a:p>
                  </a:txBody>
                  <a:tcPr>
                    <a:solidFill>
                      <a:srgbClr val="FFFFFF"/>
                    </a:solidFill>
                  </a:tcPr>
                </a:tc>
                <a:tc>
                  <a:txBody>
                    <a:bodyPr/>
                    <a:lstStyle/>
                    <a:p>
                      <a:pPr algn="ctr"/>
                      <a:r>
                        <a:rPr sz="1250" b="0">
                          <a:solidFill>
                            <a:srgbClr val="262626"/>
                          </a:solidFill>
                        </a:rPr>
                        <a:t>Highest severity, small sample</a:t>
                      </a:r>
                    </a:p>
                  </a:txBody>
                  <a:tcPr>
                    <a:solidFill>
                      <a:srgbClr val="FFFFFF"/>
                    </a:solidFill>
                  </a:tcPr>
                </a:tc>
                <a:extLst>
                  <a:ext uri="{0D108BD9-81ED-4DB2-BD59-A6C34878D82A}">
                    <a16:rowId xmlns:a16="http://schemas.microsoft.com/office/drawing/2014/main" val="10003"/>
                  </a:ext>
                </a:extLst>
              </a:tr>
              <a:tr h="554355">
                <a:tc>
                  <a:txBody>
                    <a:bodyPr/>
                    <a:lstStyle/>
                    <a:p>
                      <a:pPr algn="l"/>
                      <a:r>
                        <a:rPr sz="1250" b="0">
                          <a:solidFill>
                            <a:srgbClr val="262626"/>
                          </a:solidFill>
                        </a:rPr>
                        <a:t>Fynbos</a:t>
                      </a:r>
                    </a:p>
                  </a:txBody>
                  <a:tcPr>
                    <a:solidFill>
                      <a:srgbClr val="FFFFFF"/>
                    </a:solidFill>
                  </a:tcPr>
                </a:tc>
                <a:tc>
                  <a:txBody>
                    <a:bodyPr/>
                    <a:lstStyle/>
                    <a:p>
                      <a:pPr algn="ctr"/>
                      <a:r>
                        <a:rPr sz="1250" b="0">
                          <a:solidFill>
                            <a:srgbClr val="262626"/>
                          </a:solidFill>
                        </a:rPr>
                        <a:t>4,240</a:t>
                      </a:r>
                    </a:p>
                  </a:txBody>
                  <a:tcPr>
                    <a:solidFill>
                      <a:srgbClr val="FFFFFF"/>
                    </a:solidFill>
                  </a:tcPr>
                </a:tc>
                <a:tc>
                  <a:txBody>
                    <a:bodyPr/>
                    <a:lstStyle/>
                    <a:p>
                      <a:pPr algn="ctr"/>
                      <a:r>
                        <a:rPr sz="1250" b="0">
                          <a:solidFill>
                            <a:srgbClr val="262626"/>
                          </a:solidFill>
                        </a:rPr>
                        <a:t>1.49</a:t>
                      </a:r>
                    </a:p>
                  </a:txBody>
                  <a:tcPr>
                    <a:solidFill>
                      <a:srgbClr val="FFFFFF"/>
                    </a:solidFill>
                  </a:tcPr>
                </a:tc>
                <a:tc>
                  <a:txBody>
                    <a:bodyPr/>
                    <a:lstStyle/>
                    <a:p>
                      <a:pPr algn="ctr"/>
                      <a:r>
                        <a:rPr sz="1250" b="0">
                          <a:solidFill>
                            <a:srgbClr val="262626"/>
                          </a:solidFill>
                        </a:rPr>
                        <a:t>-15%</a:t>
                      </a:r>
                    </a:p>
                  </a:txBody>
                  <a:tcPr>
                    <a:solidFill>
                      <a:srgbClr val="FFFFFF"/>
                    </a:solidFill>
                  </a:tcPr>
                </a:tc>
                <a:tc>
                  <a:txBody>
                    <a:bodyPr/>
                    <a:lstStyle/>
                    <a:p>
                      <a:pPr algn="ctr"/>
                      <a:r>
                        <a:rPr sz="1250" b="0">
                          <a:solidFill>
                            <a:srgbClr val="262626"/>
                          </a:solidFill>
                        </a:rPr>
                        <a:t>Dominant by scale, moderate</a:t>
                      </a:r>
                    </a:p>
                  </a:txBody>
                  <a:tcPr>
                    <a:solidFill>
                      <a:srgbClr val="FFFFFF"/>
                    </a:solidFill>
                  </a:tcPr>
                </a:tc>
                <a:extLst>
                  <a:ext uri="{0D108BD9-81ED-4DB2-BD59-A6C34878D82A}">
                    <a16:rowId xmlns:a16="http://schemas.microsoft.com/office/drawing/2014/main" val="10004"/>
                  </a:ext>
                </a:extLst>
              </a:tr>
              <a:tr h="554355">
                <a:tc>
                  <a:txBody>
                    <a:bodyPr/>
                    <a:lstStyle/>
                    <a:p>
                      <a:pPr algn="l"/>
                      <a:r>
                        <a:rPr sz="1250" b="0">
                          <a:solidFill>
                            <a:srgbClr val="262626"/>
                          </a:solidFill>
                        </a:rPr>
                        <a:t>Albany Thicket</a:t>
                      </a:r>
                    </a:p>
                  </a:txBody>
                  <a:tcPr>
                    <a:solidFill>
                      <a:srgbClr val="FFFFFF"/>
                    </a:solidFill>
                  </a:tcPr>
                </a:tc>
                <a:tc>
                  <a:txBody>
                    <a:bodyPr/>
                    <a:lstStyle/>
                    <a:p>
                      <a:pPr algn="ctr"/>
                      <a:r>
                        <a:rPr sz="1250" b="0">
                          <a:solidFill>
                            <a:srgbClr val="262626"/>
                          </a:solidFill>
                        </a:rPr>
                        <a:t>98</a:t>
                      </a:r>
                    </a:p>
                  </a:txBody>
                  <a:tcPr>
                    <a:solidFill>
                      <a:srgbClr val="FFFFFF"/>
                    </a:solidFill>
                  </a:tcPr>
                </a:tc>
                <a:tc>
                  <a:txBody>
                    <a:bodyPr/>
                    <a:lstStyle/>
                    <a:p>
                      <a:pPr algn="ctr"/>
                      <a:r>
                        <a:rPr sz="1250" b="0">
                          <a:solidFill>
                            <a:srgbClr val="262626"/>
                          </a:solidFill>
                        </a:rPr>
                        <a:t>1.41</a:t>
                      </a:r>
                    </a:p>
                  </a:txBody>
                  <a:tcPr>
                    <a:solidFill>
                      <a:srgbClr val="FFFFFF"/>
                    </a:solidFill>
                  </a:tcPr>
                </a:tc>
                <a:tc>
                  <a:txBody>
                    <a:bodyPr/>
                    <a:lstStyle/>
                    <a:p>
                      <a:pPr algn="ctr"/>
                      <a:r>
                        <a:rPr sz="1250" b="0">
                          <a:solidFill>
                            <a:srgbClr val="262626"/>
                          </a:solidFill>
                        </a:rPr>
                        <a:t>-35%</a:t>
                      </a:r>
                    </a:p>
                  </a:txBody>
                  <a:tcPr>
                    <a:solidFill>
                      <a:srgbClr val="FFFFFF"/>
                    </a:solidFill>
                  </a:tcPr>
                </a:tc>
                <a:tc>
                  <a:txBody>
                    <a:bodyPr/>
                    <a:lstStyle/>
                    <a:p>
                      <a:pPr algn="ctr"/>
                      <a:r>
                        <a:rPr sz="1250" b="0">
                          <a:solidFill>
                            <a:srgbClr val="262626"/>
                          </a:solidFill>
                        </a:rPr>
                        <a:t>Lower priority</a:t>
                      </a:r>
                    </a:p>
                  </a:txBody>
                  <a:tcPr>
                    <a:solidFill>
                      <a:srgbClr val="FFFFFF"/>
                    </a:solidFill>
                  </a:tcPr>
                </a:tc>
                <a:extLst>
                  <a:ext uri="{0D108BD9-81ED-4DB2-BD59-A6C34878D82A}">
                    <a16:rowId xmlns:a16="http://schemas.microsoft.com/office/drawing/2014/main" val="10005"/>
                  </a:ext>
                </a:extLst>
              </a:tr>
              <a:tr h="554355">
                <a:tc>
                  <a:txBody>
                    <a:bodyPr/>
                    <a:lstStyle/>
                    <a:p>
                      <a:pPr algn="l"/>
                      <a:r>
                        <a:rPr sz="1250" b="0">
                          <a:solidFill>
                            <a:srgbClr val="262626"/>
                          </a:solidFill>
                        </a:rPr>
                        <a:t>Forests</a:t>
                      </a:r>
                    </a:p>
                  </a:txBody>
                  <a:tcPr>
                    <a:solidFill>
                      <a:srgbClr val="FFFFFF"/>
                    </a:solidFill>
                  </a:tcPr>
                </a:tc>
                <a:tc>
                  <a:txBody>
                    <a:bodyPr/>
                    <a:lstStyle/>
                    <a:p>
                      <a:pPr algn="ctr"/>
                      <a:r>
                        <a:rPr sz="1250" b="0">
                          <a:solidFill>
                            <a:srgbClr val="262626"/>
                          </a:solidFill>
                        </a:rPr>
                        <a:t>29</a:t>
                      </a:r>
                    </a:p>
                  </a:txBody>
                  <a:tcPr>
                    <a:solidFill>
                      <a:srgbClr val="FFFFFF"/>
                    </a:solidFill>
                  </a:tcPr>
                </a:tc>
                <a:tc>
                  <a:txBody>
                    <a:bodyPr/>
                    <a:lstStyle/>
                    <a:p>
                      <a:pPr algn="ctr"/>
                      <a:r>
                        <a:rPr sz="1250" b="0">
                          <a:solidFill>
                            <a:srgbClr val="262626"/>
                          </a:solidFill>
                        </a:rPr>
                        <a:t>1.47</a:t>
                      </a:r>
                    </a:p>
                  </a:txBody>
                  <a:tcPr>
                    <a:solidFill>
                      <a:srgbClr val="FFFFFF"/>
                    </a:solidFill>
                  </a:tcPr>
                </a:tc>
                <a:tc>
                  <a:txBody>
                    <a:bodyPr/>
                    <a:lstStyle/>
                    <a:p>
                      <a:pPr algn="ctr"/>
                      <a:r>
                        <a:rPr sz="1250" b="0">
                          <a:solidFill>
                            <a:srgbClr val="262626"/>
                          </a:solidFill>
                        </a:rPr>
                        <a:t>-51%*</a:t>
                      </a:r>
                    </a:p>
                  </a:txBody>
                  <a:tcPr>
                    <a:solidFill>
                      <a:srgbClr val="FFFFFF"/>
                    </a:solidFill>
                  </a:tcPr>
                </a:tc>
                <a:tc>
                  <a:txBody>
                    <a:bodyPr/>
                    <a:lstStyle/>
                    <a:p>
                      <a:pPr algn="ctr"/>
                      <a:r>
                        <a:rPr sz="1250" b="0">
                          <a:solidFill>
                            <a:srgbClr val="262626"/>
                          </a:solidFill>
                        </a:rPr>
                        <a:t>Small sample</a:t>
                      </a:r>
                    </a:p>
                  </a:txBody>
                  <a:tcPr>
                    <a:solidFill>
                      <a:srgbClr val="FFFFFF"/>
                    </a:solidFill>
                  </a:tcPr>
                </a:tc>
                <a:extLst>
                  <a:ext uri="{0D108BD9-81ED-4DB2-BD59-A6C34878D82A}">
                    <a16:rowId xmlns:a16="http://schemas.microsoft.com/office/drawing/2014/main" val="10006"/>
                  </a:ext>
                </a:extLst>
              </a:tr>
              <a:tr h="554355">
                <a:tc>
                  <a:txBody>
                    <a:bodyPr/>
                    <a:lstStyle/>
                    <a:p>
                      <a:pPr algn="l"/>
                      <a:r>
                        <a:rPr sz="1250" b="0">
                          <a:solidFill>
                            <a:srgbClr val="262626"/>
                          </a:solidFill>
                        </a:rPr>
                        <a:t>Azonal Vegetation</a:t>
                      </a:r>
                    </a:p>
                  </a:txBody>
                  <a:tcPr>
                    <a:solidFill>
                      <a:srgbClr val="FFFFFF"/>
                    </a:solidFill>
                  </a:tcPr>
                </a:tc>
                <a:tc>
                  <a:txBody>
                    <a:bodyPr/>
                    <a:lstStyle/>
                    <a:p>
                      <a:pPr algn="ctr"/>
                      <a:r>
                        <a:rPr sz="1250" b="0">
                          <a:solidFill>
                            <a:srgbClr val="262626"/>
                          </a:solidFill>
                        </a:rPr>
                        <a:t>77</a:t>
                      </a:r>
                    </a:p>
                  </a:txBody>
                  <a:tcPr>
                    <a:solidFill>
                      <a:srgbClr val="FFFFFF"/>
                    </a:solidFill>
                  </a:tcPr>
                </a:tc>
                <a:tc>
                  <a:txBody>
                    <a:bodyPr/>
                    <a:lstStyle/>
                    <a:p>
                      <a:pPr algn="ctr"/>
                      <a:r>
                        <a:rPr sz="1250" b="0">
                          <a:solidFill>
                            <a:srgbClr val="262626"/>
                          </a:solidFill>
                        </a:rPr>
                        <a:t>1.34</a:t>
                      </a:r>
                    </a:p>
                  </a:txBody>
                  <a:tcPr>
                    <a:solidFill>
                      <a:srgbClr val="FFFFFF"/>
                    </a:solidFill>
                  </a:tcPr>
                </a:tc>
                <a:tc>
                  <a:txBody>
                    <a:bodyPr/>
                    <a:lstStyle/>
                    <a:p>
                      <a:pPr algn="ctr"/>
                      <a:r>
                        <a:rPr sz="1250" b="0">
                          <a:solidFill>
                            <a:srgbClr val="262626"/>
                          </a:solidFill>
                        </a:rPr>
                        <a:t>-35%</a:t>
                      </a:r>
                    </a:p>
                  </a:txBody>
                  <a:tcPr>
                    <a:solidFill>
                      <a:srgbClr val="FFFFFF"/>
                    </a:solidFill>
                  </a:tcPr>
                </a:tc>
                <a:tc>
                  <a:txBody>
                    <a:bodyPr/>
                    <a:lstStyle/>
                    <a:p>
                      <a:pPr algn="ctr"/>
                      <a:r>
                        <a:rPr sz="1250" b="0">
                          <a:solidFill>
                            <a:srgbClr val="262626"/>
                          </a:solidFill>
                        </a:rPr>
                        <a:t>Lowest severity</a:t>
                      </a:r>
                    </a:p>
                  </a:txBody>
                  <a:tcPr>
                    <a:solidFill>
                      <a:srgbClr val="FFFFFF"/>
                    </a:solidFill>
                  </a:tcPr>
                </a:tc>
                <a:extLst>
                  <a:ext uri="{0D108BD9-81ED-4DB2-BD59-A6C34878D82A}">
                    <a16:rowId xmlns:a16="http://schemas.microsoft.com/office/drawing/2014/main" val="10007"/>
                  </a:ext>
                </a:extLst>
              </a:tr>
            </a:tbl>
          </a:graphicData>
        </a:graphic>
      </p:graphicFrame>
      <p:sp>
        <p:nvSpPr>
          <p:cNvPr id="9" name="TextBox 8"/>
          <p:cNvSpPr txBox="1"/>
          <p:nvPr/>
        </p:nvSpPr>
        <p:spPr>
          <a:xfrm>
            <a:off x="9509760" y="1463040"/>
            <a:ext cx="2194560" cy="4114800"/>
          </a:xfrm>
          <a:prstGeom prst="rect">
            <a:avLst/>
          </a:prstGeom>
          <a:noFill/>
        </p:spPr>
        <p:txBody>
          <a:bodyPr wrap="square">
            <a:spAutoFit/>
          </a:bodyPr>
          <a:lstStyle/>
          <a:p>
            <a:pPr>
              <a:spcAft>
                <a:spcPts val="1000"/>
              </a:spcAft>
            </a:pPr>
            <a:r>
              <a:rPr sz="1250">
                <a:solidFill>
                  <a:srgbClr val="262626"/>
                </a:solidFill>
                <a:latin typeface="Calibri"/>
              </a:rPr>
              <a:t>•  Ranking combines severity with trend direction, not severity alone</a:t>
            </a:r>
          </a:p>
          <a:p>
            <a:pPr>
              <a:spcAft>
                <a:spcPts val="1000"/>
              </a:spcAft>
            </a:pPr>
            <a:r>
              <a:rPr sz="1250">
                <a:solidFill>
                  <a:srgbClr val="262626"/>
                </a:solidFill>
                <a:latin typeface="Calibri"/>
              </a:rPr>
              <a:t>•  Asterisked rows (Grassland, Forests) carry small samples — read their swings as suggestive, not conclusive</a:t>
            </a:r>
          </a:p>
          <a:p>
            <a:pPr>
              <a:spcAft>
                <a:spcPts val="1000"/>
              </a:spcAft>
            </a:pPr>
            <a:r>
              <a:rPr sz="1250">
                <a:solidFill>
                  <a:srgbClr val="262626"/>
                </a:solidFill>
                <a:latin typeface="Calibri"/>
              </a:rPr>
              <a:t>•  Nama-Karoo and Succulent Karoo are the two cases most worth a closer look this season</a:t>
            </a:r>
          </a:p>
        </p:txBody>
      </p:sp>
      <p:sp>
        <p:nvSpPr>
          <p:cNvPr id="10" name="Rectangle 9"/>
          <p:cNvSpPr/>
          <p:nvPr/>
        </p:nvSpPr>
        <p:spPr>
          <a:xfrm>
            <a:off x="0" y="6565392"/>
            <a:ext cx="12191695" cy="9525"/>
          </a:xfrm>
          <a:prstGeom prst="rect">
            <a:avLst/>
          </a:prstGeom>
          <a:solidFill>
            <a:srgbClr val="F2F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40" y="6601968"/>
            <a:ext cx="5486400" cy="228600"/>
          </a:xfrm>
          <a:prstGeom prst="rect">
            <a:avLst/>
          </a:prstGeom>
          <a:noFill/>
        </p:spPr>
        <p:txBody>
          <a:bodyPr wrap="square" anchor="t">
            <a:spAutoFit/>
          </a:bodyPr>
          <a:lstStyle/>
          <a:p>
            <a:pPr algn="l"/>
            <a:r>
              <a:rPr sz="950" b="0" i="0">
                <a:solidFill>
                  <a:srgbClr val="6E6E6E"/>
                </a:solidFill>
                <a:latin typeface="Calibri"/>
              </a:rPr>
              <a:t>RISKSCAPE  |  Spatial Actuarial Technologies</a:t>
            </a:r>
          </a:p>
        </p:txBody>
      </p:sp>
      <p:sp>
        <p:nvSpPr>
          <p:cNvPr id="12" name="TextBox 11"/>
          <p:cNvSpPr txBox="1"/>
          <p:nvPr/>
        </p:nvSpPr>
        <p:spPr>
          <a:xfrm>
            <a:off x="8686800" y="6601968"/>
            <a:ext cx="2953512" cy="228600"/>
          </a:xfrm>
          <a:prstGeom prst="rect">
            <a:avLst/>
          </a:prstGeom>
          <a:noFill/>
        </p:spPr>
        <p:txBody>
          <a:bodyPr wrap="square" anchor="t">
            <a:spAutoFit/>
          </a:bodyPr>
          <a:lstStyle/>
          <a:p>
            <a:pPr algn="r"/>
            <a:r>
              <a:rPr sz="950" b="0" i="0">
                <a:solidFill>
                  <a:srgbClr val="6E6E6E"/>
                </a:solidFill>
                <a:latin typeface="Calibri"/>
              </a:rPr>
              <a:t>Confidential — Western Cape Bioregion Fire Assessment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
          </a:xfrm>
          <a:prstGeom prst="rect">
            <a:avLst/>
          </a:prstGeom>
          <a:solidFill>
            <a:srgbClr val="AA1D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56032"/>
            <a:ext cx="8686800" cy="274320"/>
          </a:xfrm>
          <a:prstGeom prst="rect">
            <a:avLst/>
          </a:prstGeom>
          <a:noFill/>
        </p:spPr>
        <p:txBody>
          <a:bodyPr wrap="square" anchor="t">
            <a:spAutoFit/>
          </a:bodyPr>
          <a:lstStyle/>
          <a:p>
            <a:pPr algn="l"/>
            <a:r>
              <a:rPr sz="1300" b="1" i="0">
                <a:solidFill>
                  <a:srgbClr val="AA1D13"/>
                </a:solidFill>
                <a:latin typeface="Calibri"/>
              </a:rPr>
              <a:t>METHODOLOGY &amp; LIMITATIONS</a:t>
            </a:r>
          </a:p>
        </p:txBody>
      </p:sp>
      <p:sp>
        <p:nvSpPr>
          <p:cNvPr id="5" name="TextBox 4"/>
          <p:cNvSpPr txBox="1"/>
          <p:nvPr/>
        </p:nvSpPr>
        <p:spPr>
          <a:xfrm>
            <a:off x="548640" y="530352"/>
            <a:ext cx="9601200" cy="548640"/>
          </a:xfrm>
          <a:prstGeom prst="rect">
            <a:avLst/>
          </a:prstGeom>
          <a:noFill/>
        </p:spPr>
        <p:txBody>
          <a:bodyPr wrap="square" anchor="t">
            <a:spAutoFit/>
          </a:bodyPr>
          <a:lstStyle/>
          <a:p>
            <a:pPr algn="l"/>
            <a:r>
              <a:rPr sz="2600" b="1" i="0">
                <a:solidFill>
                  <a:srgbClr val="262626"/>
                </a:solidFill>
                <a:latin typeface="Calibri"/>
              </a:rPr>
              <a:t>How This Was Built, and Where to Be Careful</a:t>
            </a:r>
          </a:p>
        </p:txBody>
      </p:sp>
      <p:pic>
        <p:nvPicPr>
          <p:cNvPr id="6" name="Picture 5" descr="logo_bird.png"/>
          <p:cNvPicPr>
            <a:picLocks noChangeAspect="1"/>
          </p:cNvPicPr>
          <p:nvPr/>
        </p:nvPicPr>
        <p:blipFill>
          <a:blip r:embed="rId3"/>
          <a:stretch>
            <a:fillRect/>
          </a:stretch>
        </p:blipFill>
        <p:spPr>
          <a:xfrm>
            <a:off x="10698480" y="292608"/>
            <a:ext cx="1052263" cy="438912"/>
          </a:xfrm>
          <a:prstGeom prst="rect">
            <a:avLst/>
          </a:prstGeom>
        </p:spPr>
      </p:pic>
      <p:sp>
        <p:nvSpPr>
          <p:cNvPr id="7" name="Rectangle 6"/>
          <p:cNvSpPr/>
          <p:nvPr/>
        </p:nvSpPr>
        <p:spPr>
          <a:xfrm>
            <a:off x="0" y="1078992"/>
            <a:ext cx="12191695" cy="12700"/>
          </a:xfrm>
          <a:prstGeom prst="rect">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1371600"/>
            <a:ext cx="10881360" cy="4846320"/>
          </a:xfrm>
          <a:prstGeom prst="rect">
            <a:avLst/>
          </a:prstGeom>
          <a:noFill/>
        </p:spPr>
        <p:txBody>
          <a:bodyPr wrap="square">
            <a:spAutoFit/>
          </a:bodyPr>
          <a:lstStyle/>
          <a:p>
            <a:pPr>
              <a:spcAft>
                <a:spcPts val="1400"/>
              </a:spcAft>
            </a:pPr>
            <a:r>
              <a:rPr sz="1600">
                <a:solidFill>
                  <a:srgbClr val="262626"/>
                </a:solidFill>
                <a:latin typeface="Calibri"/>
              </a:rPr>
              <a:t>•  Bioregion assignment is a direct spatial join against the national vegetation map, clipped to the Western Cape and dissolved to seven broad biomes — not the province's finer-grained bioregion subtypes</a:t>
            </a:r>
          </a:p>
          <a:p>
            <a:pPr>
              <a:spcAft>
                <a:spcPts val="1400"/>
              </a:spcAft>
            </a:pPr>
            <a:r>
              <a:rPr sz="1600">
                <a:solidFill>
                  <a:srgbClr val="262626"/>
                </a:solidFill>
                <a:latin typeface="Calibri"/>
              </a:rPr>
              <a:t>•  The decade comparison uses annualised rates over complete calendar years only (2012–2019 vs. 2020–2025); 2026 is excluded because it only has data through March</a:t>
            </a:r>
          </a:p>
          <a:p>
            <a:pPr>
              <a:spcAft>
                <a:spcPts val="1400"/>
              </a:spcAft>
            </a:pPr>
            <a:r>
              <a:rPr sz="1600">
                <a:solidFill>
                  <a:srgbClr val="262626"/>
                </a:solidFill>
                <a:latin typeface="Calibri"/>
              </a:rPr>
              <a:t>•  Grassland and Forests have small underlying samples (13 and 29 ignitions across 14 years) — their large percentage swings should be read as suggestive, not statistically robust</a:t>
            </a:r>
          </a:p>
          <a:p>
            <a:pPr>
              <a:spcAft>
                <a:spcPts val="1400"/>
              </a:spcAft>
            </a:pPr>
            <a:r>
              <a:rPr sz="1600">
                <a:solidFill>
                  <a:srgbClr val="262626"/>
                </a:solidFill>
                <a:latin typeface="Calibri"/>
              </a:rPr>
              <a:t>•  Severity is drawn from the summer production model only; a fuller assessment would also compare autumn, winter, and spring, since fire timing can differ meaningfully by vegetation type</a:t>
            </a:r>
          </a:p>
          <a:p>
            <a:pPr>
              <a:spcAft>
                <a:spcPts val="1400"/>
              </a:spcAft>
            </a:pPr>
            <a:r>
              <a:rPr sz="1600">
                <a:solidFill>
                  <a:srgbClr val="262626"/>
                </a:solidFill>
                <a:latin typeface="Calibri"/>
              </a:rPr>
              <a:t>•  This is a screening-level view to guide where monitoring effort goes, not a substitute for on-the-ground ecological survey</a:t>
            </a:r>
          </a:p>
        </p:txBody>
      </p:sp>
      <p:sp>
        <p:nvSpPr>
          <p:cNvPr id="9" name="Rectangle 8"/>
          <p:cNvSpPr/>
          <p:nvPr/>
        </p:nvSpPr>
        <p:spPr>
          <a:xfrm>
            <a:off x="0" y="6565392"/>
            <a:ext cx="12191695" cy="9525"/>
          </a:xfrm>
          <a:prstGeom prst="rect">
            <a:avLst/>
          </a:prstGeom>
          <a:solidFill>
            <a:srgbClr val="F2F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6601968"/>
            <a:ext cx="5486400" cy="228600"/>
          </a:xfrm>
          <a:prstGeom prst="rect">
            <a:avLst/>
          </a:prstGeom>
          <a:noFill/>
        </p:spPr>
        <p:txBody>
          <a:bodyPr wrap="square" anchor="t">
            <a:spAutoFit/>
          </a:bodyPr>
          <a:lstStyle/>
          <a:p>
            <a:pPr algn="l"/>
            <a:r>
              <a:rPr sz="950" b="0" i="0">
                <a:solidFill>
                  <a:srgbClr val="6E6E6E"/>
                </a:solidFill>
                <a:latin typeface="Calibri"/>
              </a:rPr>
              <a:t>RISKSCAPE  |  Spatial Actuarial Technologies</a:t>
            </a:r>
          </a:p>
        </p:txBody>
      </p:sp>
      <p:sp>
        <p:nvSpPr>
          <p:cNvPr id="11" name="TextBox 10"/>
          <p:cNvSpPr txBox="1"/>
          <p:nvPr/>
        </p:nvSpPr>
        <p:spPr>
          <a:xfrm>
            <a:off x="8686800" y="6601968"/>
            <a:ext cx="2953512" cy="228600"/>
          </a:xfrm>
          <a:prstGeom prst="rect">
            <a:avLst/>
          </a:prstGeom>
          <a:noFill/>
        </p:spPr>
        <p:txBody>
          <a:bodyPr wrap="square" anchor="t">
            <a:spAutoFit/>
          </a:bodyPr>
          <a:lstStyle/>
          <a:p>
            <a:pPr algn="r"/>
            <a:r>
              <a:rPr sz="950" b="0" i="0">
                <a:solidFill>
                  <a:srgbClr val="6E6E6E"/>
                </a:solidFill>
                <a:latin typeface="Calibri"/>
              </a:rPr>
              <a:t>Confidential — Western Cape Bioregion Fire Assessment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84848"/>
            <a:ext cx="12191695" cy="73152"/>
          </a:xfrm>
          <a:prstGeom prst="rect">
            <a:avLst/>
          </a:prstGeom>
          <a:solidFill>
            <a:srgbClr val="AA1D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logo_final.png"/>
          <p:cNvPicPr>
            <a:picLocks noChangeAspect="1"/>
          </p:cNvPicPr>
          <p:nvPr/>
        </p:nvPicPr>
        <p:blipFill>
          <a:blip r:embed="rId3"/>
          <a:stretch>
            <a:fillRect/>
          </a:stretch>
        </p:blipFill>
        <p:spPr>
          <a:xfrm>
            <a:off x="822960" y="640080"/>
            <a:ext cx="2109216" cy="914400"/>
          </a:xfrm>
          <a:prstGeom prst="rect">
            <a:avLst/>
          </a:prstGeom>
        </p:spPr>
      </p:pic>
      <p:sp>
        <p:nvSpPr>
          <p:cNvPr id="5" name="TextBox 4"/>
          <p:cNvSpPr txBox="1"/>
          <p:nvPr/>
        </p:nvSpPr>
        <p:spPr>
          <a:xfrm>
            <a:off x="822960" y="2103120"/>
            <a:ext cx="10515600" cy="822960"/>
          </a:xfrm>
          <a:prstGeom prst="rect">
            <a:avLst/>
          </a:prstGeom>
          <a:noFill/>
        </p:spPr>
        <p:txBody>
          <a:bodyPr wrap="square" anchor="t">
            <a:spAutoFit/>
          </a:bodyPr>
          <a:lstStyle/>
          <a:p>
            <a:pPr algn="l"/>
            <a:r>
              <a:rPr sz="4000" b="1" i="0">
                <a:solidFill>
                  <a:srgbClr val="262626"/>
                </a:solidFill>
                <a:latin typeface="Calibri"/>
              </a:rPr>
              <a:t>Next Steps</a:t>
            </a:r>
          </a:p>
        </p:txBody>
      </p:sp>
      <p:sp>
        <p:nvSpPr>
          <p:cNvPr id="6" name="Rectangle 5"/>
          <p:cNvSpPr/>
          <p:nvPr/>
        </p:nvSpPr>
        <p:spPr>
          <a:xfrm>
            <a:off x="841248" y="2834640"/>
            <a:ext cx="1280160" cy="38100"/>
          </a:xfrm>
          <a:prstGeom prst="rect">
            <a:avLst/>
          </a:prstGeom>
          <a:solidFill>
            <a:srgbClr val="AA1D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3108960"/>
            <a:ext cx="9601200" cy="2011680"/>
          </a:xfrm>
          <a:prstGeom prst="rect">
            <a:avLst/>
          </a:prstGeom>
          <a:noFill/>
        </p:spPr>
        <p:txBody>
          <a:bodyPr wrap="square">
            <a:spAutoFit/>
          </a:bodyPr>
          <a:lstStyle/>
          <a:p>
            <a:pPr>
              <a:spcAft>
                <a:spcPts val="1200"/>
              </a:spcAft>
            </a:pPr>
            <a:r>
              <a:rPr sz="1700">
                <a:solidFill>
                  <a:srgbClr val="262626"/>
                </a:solidFill>
                <a:latin typeface="Calibri"/>
              </a:rPr>
              <a:t>•  Prioritise field monitoring visits toward Nama-Karoo and Succulent Karoo this season</a:t>
            </a:r>
          </a:p>
          <a:p>
            <a:pPr>
              <a:spcAft>
                <a:spcPts val="1200"/>
              </a:spcAft>
            </a:pPr>
            <a:r>
              <a:rPr sz="1700">
                <a:solidFill>
                  <a:srgbClr val="262626"/>
                </a:solidFill>
                <a:latin typeface="Calibri"/>
              </a:rPr>
              <a:t>•  Extend the trend analysis to year-by-year, not just decade halves, once monitoring budget allows</a:t>
            </a:r>
          </a:p>
          <a:p>
            <a:pPr>
              <a:spcAft>
                <a:spcPts val="1200"/>
              </a:spcAft>
            </a:pPr>
            <a:r>
              <a:rPr sz="1700">
                <a:solidFill>
                  <a:srgbClr val="262626"/>
                </a:solidFill>
                <a:latin typeface="Calibri"/>
              </a:rPr>
              <a:t>•  Revisit this assessment as each new fire season's data comes in</a:t>
            </a:r>
          </a:p>
        </p:txBody>
      </p:sp>
      <p:sp>
        <p:nvSpPr>
          <p:cNvPr id="8" name="TextBox 7"/>
          <p:cNvSpPr txBox="1"/>
          <p:nvPr/>
        </p:nvSpPr>
        <p:spPr>
          <a:xfrm>
            <a:off x="822960" y="5669280"/>
            <a:ext cx="8229600" cy="274320"/>
          </a:xfrm>
          <a:prstGeom prst="rect">
            <a:avLst/>
          </a:prstGeom>
          <a:noFill/>
        </p:spPr>
        <p:txBody>
          <a:bodyPr wrap="square" anchor="t">
            <a:spAutoFit/>
          </a:bodyPr>
          <a:lstStyle/>
          <a:p>
            <a:pPr algn="l"/>
            <a:r>
              <a:rPr sz="1300" b="1" i="0">
                <a:solidFill>
                  <a:srgbClr val="262626"/>
                </a:solidFill>
                <a:latin typeface="Calibri"/>
              </a:rPr>
              <a:t>Cameron Green — Spatial Data Infrastructure Engineer</a:t>
            </a:r>
          </a:p>
        </p:txBody>
      </p:sp>
      <p:sp>
        <p:nvSpPr>
          <p:cNvPr id="9" name="TextBox 8"/>
          <p:cNvSpPr txBox="1"/>
          <p:nvPr/>
        </p:nvSpPr>
        <p:spPr>
          <a:xfrm>
            <a:off x="822960" y="5943600"/>
            <a:ext cx="8229600" cy="274320"/>
          </a:xfrm>
          <a:prstGeom prst="rect">
            <a:avLst/>
          </a:prstGeom>
          <a:noFill/>
        </p:spPr>
        <p:txBody>
          <a:bodyPr wrap="square" anchor="t">
            <a:spAutoFit/>
          </a:bodyPr>
          <a:lstStyle/>
          <a:p>
            <a:pPr algn="l"/>
            <a:r>
              <a:rPr sz="1250" b="0" i="0">
                <a:solidFill>
                  <a:srgbClr val="6E6E6E"/>
                </a:solidFill>
                <a:latin typeface="Calibri"/>
              </a:rPr>
              <a:t>cameron.green@riskscape.pro   |   +27 83 301 3201</a:t>
            </a:r>
          </a:p>
        </p:txBody>
      </p:sp>
      <p:sp>
        <p:nvSpPr>
          <p:cNvPr id="10" name="TextBox 9"/>
          <p:cNvSpPr txBox="1"/>
          <p:nvPr/>
        </p:nvSpPr>
        <p:spPr>
          <a:xfrm>
            <a:off x="822960" y="6217920"/>
            <a:ext cx="8229600" cy="274320"/>
          </a:xfrm>
          <a:prstGeom prst="rect">
            <a:avLst/>
          </a:prstGeom>
          <a:noFill/>
        </p:spPr>
        <p:txBody>
          <a:bodyPr wrap="square" anchor="t">
            <a:spAutoFit/>
          </a:bodyPr>
          <a:lstStyle/>
          <a:p>
            <a:pPr algn="l"/>
            <a:r>
              <a:rPr sz="1250" b="0" i="1">
                <a:solidFill>
                  <a:srgbClr val="6E6E6E"/>
                </a:solidFill>
                <a:latin typeface="Calibri"/>
              </a:rPr>
              <a:t>Riskscape — Spatial Actuarial Technologies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1788</Words>
  <Application>Microsoft Office PowerPoint</Application>
  <PresentationFormat>Widescreen</PresentationFormat>
  <Paragraphs>120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Cameron Green</cp:lastModifiedBy>
  <cp:revision>1</cp:revision>
  <dcterms:created xsi:type="dcterms:W3CDTF">2013-01-27T09:14:16Z</dcterms:created>
  <dcterms:modified xsi:type="dcterms:W3CDTF">2026-07-13T12:53:01Z</dcterms:modified>
  <cp:category/>
</cp:coreProperties>
</file>