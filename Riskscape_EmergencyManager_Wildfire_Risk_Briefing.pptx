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eron Green" userId="c6928151-536b-4292-874f-c5e068c416b1" providerId="ADAL" clId="{E1541D14-7F88-4455-801F-6E5C5228FD75}"/>
    <pc:docChg chg="delSld">
      <pc:chgData name="Cameron Green" userId="c6928151-536b-4292-874f-c5e068c416b1" providerId="ADAL" clId="{E1541D14-7F88-4455-801F-6E5C5228FD75}" dt="2026-07-13T12:52:44.872" v="0" actId="2696"/>
      <pc:docMkLst>
        <pc:docMk/>
      </pc:docMkLst>
      <pc:sldChg chg="del">
        <pc:chgData name="Cameron Green" userId="c6928151-536b-4292-874f-c5e068c416b1" providerId="ADAL" clId="{E1541D14-7F88-4455-801F-6E5C5228FD75}" dt="2026-07-13T12:52:44.872" v="0" actId="2696"/>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6273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Your question is about the extremes: not every fire, but the biggest ones — where they happen and what's common about the ground they happen on, so you know where to focus response planning. What follows isolates the 50 largest fire events on our full fourteen-year record, checks what vegetation they share, and — importantly — tests them against our own composite risk model, including an honest look at where that model falls short.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grounding before the maps. We start from the full 4,669-event fire record for the Western Cape and deliberately narrow to the 50 largest by area — from 537 square kilometres down to 80 — because for response planning, the extremes are what matter, not the average case. We check what vegetation those 50 have in common, and then we do something worth flagging up front: we test them against the same composite risk index we built for the insurer brief, to see whether that model actually flags where the biggest fires happen. Spoiler — it's a mixed result, and I'll walk you through exactly how mixed.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map is exactly what it says: the 50 largest fires this province has on record, by area, shaded from light to dark red by size. It's a deliberate shortlist — burying these 50 among 4,600-plus smaller events would make this map useless for response planning, where the extremes are what actually matter. Worth noticing: several of the biggest fires aren't scattered randomly, they cluster along the same mountain corridors, which is exactly the kind of pattern that matters for pre-positioning resources.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50 fires, now laid over summer vegetation greenness and bioregion boundaries. The clean finding is that all 50 — every single one — sit inside Fynbos. I want to be careful with that: Fynbos is also by far the largest bioregion in this province, so part of this is simply a base-rate effect, not proof that Fynbos is uniquely hazardous per square kilometre compared to, say, Nama-Karoo. What is worth noting is that several of the very largest fires sit in the darker, lusher green patches rather than the driest ones — suggesting fuel load matters here as much as dryness for a fire actually reaching this scale.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I most want you to sit with. We took the same composite risk index built for the insurer brief and checked it against these 50 real, largest fires. Only 17 of them — a third — fall inside a zone the index calls high risk. The other two-thirds happened somewhere the model currently rates as lower risk. I'd rather tell you that plainly than bury it: a model built from severity and vegetation dryness is useful for some questions, but it has a real blind spot for predicting the biggest fires specifically, and that's exactly the kind of thing you need to know before you rely on it for emergency response planning.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real top 10, largest to smallest, with each one's actual risk score from the composite index and whether it agreed. Only two of the ten biggest fires we have on record sat in a zone the model called high-risk — consistent with the one-in-three rate across the full top 50. My direct recommendation: use this historical size-and-location pattern directly for pre-season planning, alongside the composite index rather than instead of it. The index still has value, it just isn't sufficient on its own for this particular question.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few caveats before you plan around this. Restricting to the top 50 is a deliberate choice to keep this focused on the extremes, but it does mean some mid-sized fires that could still matter operationally aren't shown here. The composite risk index was genuinely built for a different client and a different question — reusing it here as a cross-check is legitimate, but it was never tuned for this specific question, and the disagreement rate we found reflects that. All 50 fires being in Fynbos is partly just base rate, since Fynbos dominates the province by area — I wouldn't over-read that as proof of anything causal about the vegetation itself. And notice how much days-burned varies even among similarly-sized fires — that's a separate operational signal worth tracking alongside area.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the assessment: fifty real fires, one clean vegetation finding, and one honest model limitation. Use the historical pattern directly for pre-positioning, keep pushing on why the composite index misses two-thirds of the biggest events, and let's revisit this every season as the record grows. Happy to take questions, and very happy to dig into candidate features — wind, fuel continuity, access — that might close that gap in a future version of the model.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_final.png"/>
          <p:cNvPicPr>
            <a:picLocks noChangeAspect="1"/>
          </p:cNvPicPr>
          <p:nvPr/>
        </p:nvPicPr>
        <p:blipFill>
          <a:blip r:embed="rId3"/>
          <a:stretch>
            <a:fillRect/>
          </a:stretch>
        </p:blipFill>
        <p:spPr>
          <a:xfrm>
            <a:off x="822960" y="640080"/>
            <a:ext cx="2320138" cy="1005840"/>
          </a:xfrm>
          <a:prstGeom prst="rect">
            <a:avLst/>
          </a:prstGeom>
        </p:spPr>
      </p:pic>
      <p:sp>
        <p:nvSpPr>
          <p:cNvPr id="5" name="TextBox 4"/>
          <p:cNvSpPr txBox="1"/>
          <p:nvPr/>
        </p:nvSpPr>
        <p:spPr>
          <a:xfrm>
            <a:off x="822960" y="2148840"/>
            <a:ext cx="10515600" cy="365760"/>
          </a:xfrm>
          <a:prstGeom prst="rect">
            <a:avLst/>
          </a:prstGeom>
          <a:noFill/>
        </p:spPr>
        <p:txBody>
          <a:bodyPr wrap="square" anchor="t">
            <a:spAutoFit/>
          </a:bodyPr>
          <a:lstStyle/>
          <a:p>
            <a:pPr algn="l"/>
            <a:r>
              <a:rPr sz="1600" b="1" i="0">
                <a:solidFill>
                  <a:srgbClr val="AA1D13"/>
                </a:solidFill>
                <a:latin typeface="Calibri"/>
              </a:rPr>
              <a:t>EMERGENCY RESPONSE ASSESSMENT</a:t>
            </a:r>
          </a:p>
        </p:txBody>
      </p:sp>
      <p:sp>
        <p:nvSpPr>
          <p:cNvPr id="6" name="TextBox 5"/>
          <p:cNvSpPr txBox="1"/>
          <p:nvPr/>
        </p:nvSpPr>
        <p:spPr>
          <a:xfrm>
            <a:off x="822960" y="2514600"/>
            <a:ext cx="10515600" cy="1188720"/>
          </a:xfrm>
          <a:prstGeom prst="rect">
            <a:avLst/>
          </a:prstGeom>
          <a:noFill/>
        </p:spPr>
        <p:txBody>
          <a:bodyPr wrap="square" anchor="t">
            <a:spAutoFit/>
          </a:bodyPr>
          <a:lstStyle/>
          <a:p>
            <a:pPr algn="l"/>
            <a:r>
              <a:rPr sz="3600" b="1" i="0">
                <a:solidFill>
                  <a:srgbClr val="262626"/>
                </a:solidFill>
                <a:latin typeface="Calibri"/>
              </a:rPr>
              <a:t>Western Cape Largest Fire Events Assessment</a:t>
            </a:r>
          </a:p>
        </p:txBody>
      </p:sp>
      <p:sp>
        <p:nvSpPr>
          <p:cNvPr id="7" name="Rectangle 6"/>
          <p:cNvSpPr/>
          <p:nvPr/>
        </p:nvSpPr>
        <p:spPr>
          <a:xfrm>
            <a:off x="841248" y="3310128"/>
            <a:ext cx="1280160" cy="38100"/>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520440"/>
            <a:ext cx="10515600" cy="640080"/>
          </a:xfrm>
          <a:prstGeom prst="rect">
            <a:avLst/>
          </a:prstGeom>
          <a:noFill/>
        </p:spPr>
        <p:txBody>
          <a:bodyPr wrap="square" anchor="t">
            <a:spAutoFit/>
          </a:bodyPr>
          <a:lstStyle/>
          <a:p>
            <a:pPr algn="l"/>
            <a:r>
              <a:rPr sz="1900" b="0" i="1">
                <a:solidFill>
                  <a:srgbClr val="6E6E6E"/>
                </a:solidFill>
                <a:latin typeface="Calibri"/>
              </a:rPr>
              <a:t>Where Are the Largest Fires, and What Are They Associated With?</a:t>
            </a:r>
          </a:p>
        </p:txBody>
      </p:sp>
      <p:sp>
        <p:nvSpPr>
          <p:cNvPr id="9" name="TextBox 8"/>
          <p:cNvSpPr txBox="1"/>
          <p:nvPr/>
        </p:nvSpPr>
        <p:spPr>
          <a:xfrm>
            <a:off x="822960" y="5989320"/>
            <a:ext cx="8229600" cy="274320"/>
          </a:xfrm>
          <a:prstGeom prst="rect">
            <a:avLst/>
          </a:prstGeom>
          <a:noFill/>
        </p:spPr>
        <p:txBody>
          <a:bodyPr wrap="square" anchor="t">
            <a:spAutoFit/>
          </a:bodyPr>
          <a:lstStyle/>
          <a:p>
            <a:pPr algn="l"/>
            <a:r>
              <a:rPr sz="1300" b="0" i="0">
                <a:solidFill>
                  <a:srgbClr val="262626"/>
                </a:solidFill>
                <a:latin typeface="Calibri"/>
              </a:rPr>
              <a:t>Prepared for: Western Cape Emergency Management Office</a:t>
            </a:r>
          </a:p>
        </p:txBody>
      </p:sp>
      <p:sp>
        <p:nvSpPr>
          <p:cNvPr id="10" name="TextBox 9"/>
          <p:cNvSpPr txBox="1"/>
          <p:nvPr/>
        </p:nvSpPr>
        <p:spPr>
          <a:xfrm>
            <a:off x="822960" y="6263640"/>
            <a:ext cx="8229600" cy="274320"/>
          </a:xfrm>
          <a:prstGeom prst="rect">
            <a:avLst/>
          </a:prstGeom>
          <a:noFill/>
        </p:spPr>
        <p:txBody>
          <a:bodyPr wrap="square" anchor="t">
            <a:spAutoFit/>
          </a:bodyPr>
          <a:lstStyle/>
          <a:p>
            <a:pPr algn="l"/>
            <a:r>
              <a:rPr sz="1300" b="0" i="0">
                <a:solidFill>
                  <a:srgbClr val="262626"/>
                </a:solidFill>
                <a:latin typeface="Calibri"/>
              </a:rPr>
              <a:t>Prepared by: Cameron Green, Spatial Data Infrastructure Engineer — Riskscape Analytics</a:t>
            </a:r>
          </a:p>
        </p:txBody>
      </p:sp>
      <p:sp>
        <p:nvSpPr>
          <p:cNvPr id="11" name="TextBox 10"/>
          <p:cNvSpPr txBox="1"/>
          <p:nvPr/>
        </p:nvSpPr>
        <p:spPr>
          <a:xfrm>
            <a:off x="822960" y="6537960"/>
            <a:ext cx="8229600" cy="228600"/>
          </a:xfrm>
          <a:prstGeom prst="rect">
            <a:avLst/>
          </a:prstGeom>
          <a:noFill/>
        </p:spPr>
        <p:txBody>
          <a:bodyPr wrap="square" anchor="t">
            <a:spAutoFit/>
          </a:bodyPr>
          <a:lstStyle/>
          <a:p>
            <a:pPr algn="l"/>
            <a:r>
              <a:rPr sz="1150" b="0" i="0">
                <a:solidFill>
                  <a:srgbClr val="6E6E6E"/>
                </a:solidFill>
                <a:latin typeface="Calibri"/>
              </a:rPr>
              <a:t>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SCOPE &amp; DATA</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What This Assessment Covers</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6126480" cy="4846320"/>
          </a:xfrm>
          <a:prstGeom prst="rect">
            <a:avLst/>
          </a:prstGeom>
          <a:noFill/>
        </p:spPr>
        <p:txBody>
          <a:bodyPr wrap="square">
            <a:spAutoFit/>
          </a:bodyPr>
          <a:lstStyle/>
          <a:p>
            <a:pPr>
              <a:spcAft>
                <a:spcPts val="1300"/>
              </a:spcAft>
            </a:pPr>
            <a:r>
              <a:rPr sz="1600">
                <a:solidFill>
                  <a:srgbClr val="262626"/>
                </a:solidFill>
                <a:latin typeface="Calibri"/>
              </a:rPr>
              <a:t>•  Question: where are the largest fire events on record, and what landscape features do they share?</a:t>
            </a:r>
          </a:p>
          <a:p>
            <a:pPr>
              <a:spcAft>
                <a:spcPts val="1300"/>
              </a:spcAft>
            </a:pPr>
            <a:r>
              <a:rPr sz="1600">
                <a:solidFill>
                  <a:srgbClr val="262626"/>
                </a:solidFill>
                <a:latin typeface="Calibri"/>
              </a:rPr>
              <a:t>•  Fire record: the full 4,669-event Western Cape record, 2012–2026 — this assessment isolates the 50 largest by area</a:t>
            </a:r>
          </a:p>
          <a:p>
            <a:pPr>
              <a:spcAft>
                <a:spcPts val="1300"/>
              </a:spcAft>
            </a:pPr>
            <a:r>
              <a:rPr sz="1600">
                <a:solidFill>
                  <a:srgbClr val="262626"/>
                </a:solidFill>
                <a:latin typeface="Calibri"/>
              </a:rPr>
              <a:t>•  Vegetation: summer NDVI and the same bioregion classification used across this analysis</a:t>
            </a:r>
          </a:p>
          <a:p>
            <a:pPr>
              <a:spcAft>
                <a:spcPts val="1300"/>
              </a:spcAft>
            </a:pPr>
            <a:r>
              <a:rPr sz="1600">
                <a:solidFill>
                  <a:srgbClr val="262626"/>
                </a:solidFill>
                <a:latin typeface="Calibri"/>
              </a:rPr>
              <a:t>•  Risk cross-check: the composite risk index built for the insurer brief (severity + vegetation dryness), reused here to test whether it actually flags where the biggest fires happen</a:t>
            </a:r>
          </a:p>
          <a:p>
            <a:pPr>
              <a:spcAft>
                <a:spcPts val="1300"/>
              </a:spcAft>
            </a:pPr>
            <a:r>
              <a:rPr sz="1600">
                <a:solidFill>
                  <a:srgbClr val="262626"/>
                </a:solidFill>
                <a:latin typeface="Calibri"/>
              </a:rPr>
              <a:t>•  Smallest fire in this top-50 shortlist: 80 km². Largest: 537 km²</a:t>
            </a:r>
          </a:p>
        </p:txBody>
      </p:sp>
      <p:sp>
        <p:nvSpPr>
          <p:cNvPr id="9" name="TextBox 8"/>
          <p:cNvSpPr txBox="1"/>
          <p:nvPr/>
        </p:nvSpPr>
        <p:spPr>
          <a:xfrm>
            <a:off x="7040880" y="1463040"/>
            <a:ext cx="4572000" cy="4389120"/>
          </a:xfrm>
          <a:prstGeom prst="rect">
            <a:avLst/>
          </a:prstGeom>
          <a:noFill/>
        </p:spPr>
        <p:txBody>
          <a:bodyPr wrap="square" anchor="t">
            <a:spAutoFit/>
          </a:bodyPr>
          <a:lstStyle/>
          <a:p>
            <a:pPr algn="l">
              <a:lnSpc>
                <a:spcPct val="115000"/>
              </a:lnSpc>
            </a:pPr>
            <a:r>
              <a:rPr sz="1500" b="0" i="0">
                <a:solidFill>
                  <a:srgbClr val="262626"/>
                </a:solidFill>
                <a:latin typeface="Calibri"/>
              </a:rPr>
              <a:t>Three views, one dataset</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1. Scale — which 50 fires are the largest on record</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2. Association — what vegetation and bioregion they share</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3. Model check — do they fall where our composite risk index says they should</a:t>
            </a:r>
          </a:p>
        </p:txBody>
      </p:sp>
      <p:sp>
        <p:nvSpPr>
          <p:cNvPr id="10" name="Rectangle 9"/>
          <p:cNvSpPr/>
          <p:nvPr/>
        </p:nvSpPr>
        <p:spPr>
          <a:xfrm>
            <a:off x="7040880" y="1371600"/>
            <a:ext cx="31750" cy="4480560"/>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3" name="TextBox 12"/>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Largest Fire Events Assessment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1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The 50 Largest Fire Events on Record</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mergency_map1_top50_fires.png"/>
          <p:cNvPicPr>
            <a:picLocks noChangeAspect="1"/>
          </p:cNvPicPr>
          <p:nvPr/>
        </p:nvPicPr>
        <p:blipFill>
          <a:blip r:embed="rId4"/>
          <a:stretch>
            <a:fillRect/>
          </a:stretch>
        </p:blipFill>
        <p:spPr>
          <a:xfrm>
            <a:off x="1332191" y="1325880"/>
            <a:ext cx="5290897" cy="4892040"/>
          </a:xfrm>
          <a:prstGeom prst="rect">
            <a:avLst/>
          </a:prstGeom>
        </p:spPr>
      </p:pic>
      <p:sp>
        <p:nvSpPr>
          <p:cNvPr id="9" name="Rectangle 8"/>
          <p:cNvSpPr/>
          <p:nvPr/>
        </p:nvSpPr>
        <p:spPr>
          <a:xfrm>
            <a:off x="1332191" y="1325880"/>
            <a:ext cx="5290897"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The 50 largest fire events by area, 2012–2026 (537 km² down to 80 km²)</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00">
                <a:solidFill>
                  <a:srgbClr val="262626"/>
                </a:solidFill>
                <a:latin typeface="Calibri"/>
              </a:rPr>
              <a:t>•  The largest fire on record burned 537 km² in December 2025; the 50th-largest still covers 80 km²</a:t>
            </a:r>
          </a:p>
          <a:p>
            <a:pPr>
              <a:spcAft>
                <a:spcPts val="1300"/>
              </a:spcAft>
            </a:pPr>
            <a:r>
              <a:rPr sz="1500">
                <a:solidFill>
                  <a:srgbClr val="262626"/>
                </a:solidFill>
                <a:latin typeface="Calibri"/>
              </a:rPr>
              <a:t>•  These 50 are a deliberate shortlist out of 4,669 total records — the extremes, not the average case</a:t>
            </a:r>
          </a:p>
          <a:p>
            <a:pPr>
              <a:spcAft>
                <a:spcPts val="1300"/>
              </a:spcAft>
            </a:pPr>
            <a:r>
              <a:rPr sz="1500">
                <a:solidFill>
                  <a:srgbClr val="262626"/>
                </a:solidFill>
                <a:latin typeface="Calibri"/>
              </a:rPr>
              <a:t>•  Several of the largest events cluster along the same mountain corridors, visible as repeated large shapes close together</a:t>
            </a:r>
          </a:p>
          <a:p>
            <a:pPr>
              <a:spcAft>
                <a:spcPts val="1300"/>
              </a:spcAft>
            </a:pPr>
            <a:r>
              <a:rPr sz="1500">
                <a:solidFill>
                  <a:srgbClr val="262626"/>
                </a:solidFill>
                <a:latin typeface="Calibri"/>
              </a:rPr>
              <a:t>•  The eight largest are labelled directly on the map with their real size in km²</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Largest Fire Events Assessment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2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Largest Fires Over Vegetation and Bioregions</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mergency_map2_ndvi_bioregions.png"/>
          <p:cNvPicPr>
            <a:picLocks noChangeAspect="1"/>
          </p:cNvPicPr>
          <p:nvPr/>
        </p:nvPicPr>
        <p:blipFill>
          <a:blip r:embed="rId4"/>
          <a:stretch>
            <a:fillRect/>
          </a:stretch>
        </p:blipFill>
        <p:spPr>
          <a:xfrm>
            <a:off x="1327280" y="1325880"/>
            <a:ext cx="5300719" cy="4892040"/>
          </a:xfrm>
          <a:prstGeom prst="rect">
            <a:avLst/>
          </a:prstGeom>
        </p:spPr>
      </p:pic>
      <p:sp>
        <p:nvSpPr>
          <p:cNvPr id="9" name="Rectangle 8"/>
          <p:cNvSpPr/>
          <p:nvPr/>
        </p:nvSpPr>
        <p:spPr>
          <a:xfrm>
            <a:off x="1327280" y="1325880"/>
            <a:ext cx="5300719"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The same 50 fires over summer NDVI and bioregion boundaries</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00">
                <a:solidFill>
                  <a:srgbClr val="262626"/>
                </a:solidFill>
                <a:latin typeface="Calibri"/>
              </a:rPr>
              <a:t>•  Every one of the 50 largest fires on record falls inside the Fynbos bioregion — 50 of 50, no exceptions</a:t>
            </a:r>
          </a:p>
          <a:p>
            <a:pPr>
              <a:spcAft>
                <a:spcPts val="1300"/>
              </a:spcAft>
            </a:pPr>
            <a:r>
              <a:rPr sz="1500">
                <a:solidFill>
                  <a:srgbClr val="262626"/>
                </a:solidFill>
                <a:latin typeface="Calibri"/>
              </a:rPr>
              <a:t>•  Fynbos is also the largest bioregion in the province by area, so this is partly a base-rate effect, not proof that Fynbos alone is uniquely dangerous per square kilometre</a:t>
            </a:r>
          </a:p>
          <a:p>
            <a:pPr>
              <a:spcAft>
                <a:spcPts val="1300"/>
              </a:spcAft>
            </a:pPr>
            <a:r>
              <a:rPr sz="1500">
                <a:solidFill>
                  <a:srgbClr val="262626"/>
                </a:solidFill>
                <a:latin typeface="Calibri"/>
              </a:rPr>
              <a:t>•  Several of the largest fires sit in visibly darker-green, lusher pockets — fuel load, not just dryness, appears to matter for reaching this scale</a:t>
            </a:r>
          </a:p>
          <a:p>
            <a:pPr>
              <a:spcAft>
                <a:spcPts val="1300"/>
              </a:spcAft>
            </a:pPr>
            <a:r>
              <a:rPr sz="1500">
                <a:solidFill>
                  <a:srgbClr val="262626"/>
                </a:solidFill>
                <a:latin typeface="Calibri"/>
              </a:rPr>
              <a:t>•  This is a verified pattern in the real record, not an assumption going in</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Largest Fire Events Assessment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3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Checking the Composite Risk Model Against Reality</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mergency_map3_composite_risk.png"/>
          <p:cNvPicPr>
            <a:picLocks noChangeAspect="1"/>
          </p:cNvPicPr>
          <p:nvPr/>
        </p:nvPicPr>
        <p:blipFill>
          <a:blip r:embed="rId4"/>
          <a:stretch>
            <a:fillRect/>
          </a:stretch>
        </p:blipFill>
        <p:spPr>
          <a:xfrm>
            <a:off x="1200135" y="1325880"/>
            <a:ext cx="5555009" cy="4892040"/>
          </a:xfrm>
          <a:prstGeom prst="rect">
            <a:avLst/>
          </a:prstGeom>
        </p:spPr>
      </p:pic>
      <p:sp>
        <p:nvSpPr>
          <p:cNvPr id="9" name="Rectangle 8"/>
          <p:cNvSpPr/>
          <p:nvPr/>
        </p:nvSpPr>
        <p:spPr>
          <a:xfrm>
            <a:off x="1200135" y="1325880"/>
            <a:ext cx="5555009"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Composite risk index, with the 50 largest fires outlined by model agreement</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00">
                <a:solidFill>
                  <a:srgbClr val="262626"/>
                </a:solidFill>
                <a:latin typeface="Calibri"/>
              </a:rPr>
              <a:t>•  Only 17 of the 50 largest fires on record (34%) fall inside a zone this index rates as high risk (3 or higher out of 5)</a:t>
            </a:r>
          </a:p>
          <a:p>
            <a:pPr>
              <a:spcAft>
                <a:spcPts val="1300"/>
              </a:spcAft>
            </a:pPr>
            <a:r>
              <a:rPr sz="1500">
                <a:solidFill>
                  <a:srgbClr val="262626"/>
                </a:solidFill>
                <a:latin typeface="Calibri"/>
              </a:rPr>
              <a:t>•  The other 33 (66%) occurred somewhere the model currently rates as lower risk</a:t>
            </a:r>
          </a:p>
          <a:p>
            <a:pPr>
              <a:spcAft>
                <a:spcPts val="1300"/>
              </a:spcAft>
            </a:pPr>
            <a:r>
              <a:rPr sz="1500">
                <a:solidFill>
                  <a:srgbClr val="262626"/>
                </a:solidFill>
                <a:latin typeface="Calibri"/>
              </a:rPr>
              <a:t>•  This is the same composite index built for the insurer brief, reused here as a genuine cross-check — and it does not reliably predict where the biggest fires actually happen</a:t>
            </a:r>
          </a:p>
          <a:p>
            <a:pPr>
              <a:spcAft>
                <a:spcPts val="1300"/>
              </a:spcAft>
            </a:pPr>
            <a:r>
              <a:rPr sz="1500">
                <a:solidFill>
                  <a:srgbClr val="262626"/>
                </a:solidFill>
                <a:latin typeface="Calibri"/>
              </a:rPr>
              <a:t>•  That gap is the central finding of this assessment: severity plus vegetation dryness alone doesn't fully explain fire size</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Largest Fire Events Assessment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THE RECORD</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The 10 Largest Fires on Record</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48640" y="1371600"/>
          <a:ext cx="7680960" cy="429768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90698">
                <a:tc>
                  <a:txBody>
                    <a:bodyPr/>
                    <a:lstStyle/>
                    <a:p>
                      <a:pPr algn="ctr"/>
                      <a:r>
                        <a:rPr sz="1300" b="1">
                          <a:solidFill>
                            <a:srgbClr val="FFFFFF"/>
                          </a:solidFill>
                        </a:rPr>
                        <a:t>Start Date</a:t>
                      </a:r>
                    </a:p>
                  </a:txBody>
                  <a:tcPr>
                    <a:solidFill>
                      <a:srgbClr val="262626"/>
                    </a:solidFill>
                  </a:tcPr>
                </a:tc>
                <a:tc>
                  <a:txBody>
                    <a:bodyPr/>
                    <a:lstStyle/>
                    <a:p>
                      <a:pPr algn="ctr"/>
                      <a:r>
                        <a:rPr sz="1300" b="1">
                          <a:solidFill>
                            <a:srgbClr val="FFFFFF"/>
                          </a:solidFill>
                        </a:rPr>
                        <a:t>Area (km²)</a:t>
                      </a:r>
                    </a:p>
                  </a:txBody>
                  <a:tcPr>
                    <a:solidFill>
                      <a:srgbClr val="262626"/>
                    </a:solidFill>
                  </a:tcPr>
                </a:tc>
                <a:tc>
                  <a:txBody>
                    <a:bodyPr/>
                    <a:lstStyle/>
                    <a:p>
                      <a:pPr algn="ctr"/>
                      <a:r>
                        <a:rPr sz="1300" b="1">
                          <a:solidFill>
                            <a:srgbClr val="FFFFFF"/>
                          </a:solidFill>
                        </a:rPr>
                        <a:t>Days Burned</a:t>
                      </a:r>
                    </a:p>
                  </a:txBody>
                  <a:tcPr>
                    <a:solidFill>
                      <a:srgbClr val="262626"/>
                    </a:solidFill>
                  </a:tcPr>
                </a:tc>
                <a:tc>
                  <a:txBody>
                    <a:bodyPr/>
                    <a:lstStyle/>
                    <a:p>
                      <a:pPr algn="ctr"/>
                      <a:r>
                        <a:rPr sz="1300" b="1">
                          <a:solidFill>
                            <a:srgbClr val="FFFFFF"/>
                          </a:solidFill>
                        </a:rPr>
                        <a:t>Risk Score</a:t>
                      </a:r>
                    </a:p>
                  </a:txBody>
                  <a:tcPr>
                    <a:solidFill>
                      <a:srgbClr val="262626"/>
                    </a:solidFill>
                  </a:tcPr>
                </a:tc>
                <a:tc>
                  <a:txBody>
                    <a:bodyPr/>
                    <a:lstStyle/>
                    <a:p>
                      <a:pPr algn="ctr"/>
                      <a:r>
                        <a:rPr sz="1300" b="1">
                          <a:solidFill>
                            <a:srgbClr val="FFFFFF"/>
                          </a:solidFill>
                        </a:rPr>
                        <a:t>Model Agreement</a:t>
                      </a:r>
                    </a:p>
                  </a:txBody>
                  <a:tcPr>
                    <a:solidFill>
                      <a:srgbClr val="262626"/>
                    </a:solidFill>
                  </a:tcPr>
                </a:tc>
                <a:extLst>
                  <a:ext uri="{0D108BD9-81ED-4DB2-BD59-A6C34878D82A}">
                    <a16:rowId xmlns:a16="http://schemas.microsoft.com/office/drawing/2014/main" val="10000"/>
                  </a:ext>
                </a:extLst>
              </a:tr>
              <a:tr h="390698">
                <a:tc>
                  <a:txBody>
                    <a:bodyPr/>
                    <a:lstStyle/>
                    <a:p>
                      <a:pPr algn="ctr"/>
                      <a:r>
                        <a:rPr sz="1300" b="0">
                          <a:solidFill>
                            <a:srgbClr val="262626"/>
                          </a:solidFill>
                        </a:rPr>
                        <a:t>2025-12-22</a:t>
                      </a:r>
                    </a:p>
                  </a:txBody>
                  <a:tcPr>
                    <a:solidFill>
                      <a:srgbClr val="FFFFFF"/>
                    </a:solidFill>
                  </a:tcPr>
                </a:tc>
                <a:tc>
                  <a:txBody>
                    <a:bodyPr/>
                    <a:lstStyle/>
                    <a:p>
                      <a:pPr algn="ctr"/>
                      <a:r>
                        <a:rPr sz="1300" b="0">
                          <a:solidFill>
                            <a:srgbClr val="262626"/>
                          </a:solidFill>
                        </a:rPr>
                        <a:t>537.4</a:t>
                      </a:r>
                    </a:p>
                  </a:txBody>
                  <a:tcPr>
                    <a:solidFill>
                      <a:srgbClr val="FFFFFF"/>
                    </a:solidFill>
                  </a:tcPr>
                </a:tc>
                <a:tc>
                  <a:txBody>
                    <a:bodyPr/>
                    <a:lstStyle/>
                    <a:p>
                      <a:pPr algn="ctr"/>
                      <a:r>
                        <a:rPr sz="1300" b="0">
                          <a:solidFill>
                            <a:srgbClr val="262626"/>
                          </a:solidFill>
                        </a:rPr>
                        <a:t>14</a:t>
                      </a:r>
                    </a:p>
                  </a:txBody>
                  <a:tcPr>
                    <a:solidFill>
                      <a:srgbClr val="FFFFFF"/>
                    </a:solidFill>
                  </a:tcPr>
                </a:tc>
                <a:tc>
                  <a:txBody>
                    <a:bodyPr/>
                    <a:lstStyle/>
                    <a:p>
                      <a:pPr algn="ctr"/>
                      <a:r>
                        <a:rPr sz="1300" b="0">
                          <a:solidFill>
                            <a:srgbClr val="262626"/>
                          </a:solidFill>
                        </a:rPr>
                        <a:t>3.22</a:t>
                      </a:r>
                    </a:p>
                  </a:txBody>
                  <a:tcPr>
                    <a:solidFill>
                      <a:srgbClr val="FFFFFF"/>
                    </a:solidFill>
                  </a:tcPr>
                </a:tc>
                <a:tc>
                  <a:txBody>
                    <a:bodyPr/>
                    <a:lstStyle/>
                    <a:p>
                      <a:pPr algn="ctr"/>
                      <a:r>
                        <a:rPr sz="1300" b="1">
                          <a:solidFill>
                            <a:srgbClr val="AA1D13"/>
                          </a:solidFill>
                        </a:rPr>
                        <a:t>Agrees</a:t>
                      </a:r>
                    </a:p>
                  </a:txBody>
                  <a:tcPr>
                    <a:solidFill>
                      <a:srgbClr val="F3D8D5"/>
                    </a:solidFill>
                  </a:tcPr>
                </a:tc>
                <a:extLst>
                  <a:ext uri="{0D108BD9-81ED-4DB2-BD59-A6C34878D82A}">
                    <a16:rowId xmlns:a16="http://schemas.microsoft.com/office/drawing/2014/main" val="10001"/>
                  </a:ext>
                </a:extLst>
              </a:tr>
              <a:tr h="390698">
                <a:tc>
                  <a:txBody>
                    <a:bodyPr/>
                    <a:lstStyle/>
                    <a:p>
                      <a:pPr algn="ctr"/>
                      <a:r>
                        <a:rPr sz="1300" b="0">
                          <a:solidFill>
                            <a:srgbClr val="262626"/>
                          </a:solidFill>
                        </a:rPr>
                        <a:t>2018-10-25</a:t>
                      </a:r>
                    </a:p>
                  </a:txBody>
                  <a:tcPr>
                    <a:solidFill>
                      <a:srgbClr val="FFFFFF"/>
                    </a:solidFill>
                  </a:tcPr>
                </a:tc>
                <a:tc>
                  <a:txBody>
                    <a:bodyPr/>
                    <a:lstStyle/>
                    <a:p>
                      <a:pPr algn="ctr"/>
                      <a:r>
                        <a:rPr sz="1300" b="0">
                          <a:solidFill>
                            <a:srgbClr val="262626"/>
                          </a:solidFill>
                        </a:rPr>
                        <a:t>498.7</a:t>
                      </a:r>
                    </a:p>
                  </a:txBody>
                  <a:tcPr>
                    <a:solidFill>
                      <a:srgbClr val="FFFFFF"/>
                    </a:solidFill>
                  </a:tcPr>
                </a:tc>
                <a:tc>
                  <a:txBody>
                    <a:bodyPr/>
                    <a:lstStyle/>
                    <a:p>
                      <a:pPr algn="ctr"/>
                      <a:r>
                        <a:rPr sz="1300" b="0">
                          <a:solidFill>
                            <a:srgbClr val="262626"/>
                          </a:solidFill>
                        </a:rPr>
                        <a:t>22</a:t>
                      </a:r>
                    </a:p>
                  </a:txBody>
                  <a:tcPr>
                    <a:solidFill>
                      <a:srgbClr val="FFFFFF"/>
                    </a:solidFill>
                  </a:tcPr>
                </a:tc>
                <a:tc>
                  <a:txBody>
                    <a:bodyPr/>
                    <a:lstStyle/>
                    <a:p>
                      <a:pPr algn="ctr"/>
                      <a:r>
                        <a:rPr sz="1300" b="0">
                          <a:solidFill>
                            <a:srgbClr val="262626"/>
                          </a:solidFill>
                        </a:rPr>
                        <a:t>1.99</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02"/>
                  </a:ext>
                </a:extLst>
              </a:tr>
              <a:tr h="390698">
                <a:tc>
                  <a:txBody>
                    <a:bodyPr/>
                    <a:lstStyle/>
                    <a:p>
                      <a:pPr algn="ctr"/>
                      <a:r>
                        <a:rPr sz="1300" b="0">
                          <a:solidFill>
                            <a:srgbClr val="262626"/>
                          </a:solidFill>
                        </a:rPr>
                        <a:t>2016-01-30</a:t>
                      </a:r>
                    </a:p>
                  </a:txBody>
                  <a:tcPr>
                    <a:solidFill>
                      <a:srgbClr val="FFFFFF"/>
                    </a:solidFill>
                  </a:tcPr>
                </a:tc>
                <a:tc>
                  <a:txBody>
                    <a:bodyPr/>
                    <a:lstStyle/>
                    <a:p>
                      <a:pPr algn="ctr"/>
                      <a:r>
                        <a:rPr sz="1300" b="0">
                          <a:solidFill>
                            <a:srgbClr val="262626"/>
                          </a:solidFill>
                        </a:rPr>
                        <a:t>431.8</a:t>
                      </a:r>
                    </a:p>
                  </a:txBody>
                  <a:tcPr>
                    <a:solidFill>
                      <a:srgbClr val="FFFFFF"/>
                    </a:solidFill>
                  </a:tcPr>
                </a:tc>
                <a:tc>
                  <a:txBody>
                    <a:bodyPr/>
                    <a:lstStyle/>
                    <a:p>
                      <a:pPr algn="ctr"/>
                      <a:r>
                        <a:rPr sz="1300" b="0">
                          <a:solidFill>
                            <a:srgbClr val="262626"/>
                          </a:solidFill>
                        </a:rPr>
                        <a:t>20</a:t>
                      </a:r>
                    </a:p>
                  </a:txBody>
                  <a:tcPr>
                    <a:solidFill>
                      <a:srgbClr val="FFFFFF"/>
                    </a:solidFill>
                  </a:tcPr>
                </a:tc>
                <a:tc>
                  <a:txBody>
                    <a:bodyPr/>
                    <a:lstStyle/>
                    <a:p>
                      <a:pPr algn="ctr"/>
                      <a:r>
                        <a:rPr sz="1300" b="0">
                          <a:solidFill>
                            <a:srgbClr val="262626"/>
                          </a:solidFill>
                        </a:rPr>
                        <a:t>2.05</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03"/>
                  </a:ext>
                </a:extLst>
              </a:tr>
              <a:tr h="390698">
                <a:tc>
                  <a:txBody>
                    <a:bodyPr/>
                    <a:lstStyle/>
                    <a:p>
                      <a:pPr algn="ctr"/>
                      <a:r>
                        <a:rPr sz="1300" b="0">
                          <a:solidFill>
                            <a:srgbClr val="262626"/>
                          </a:solidFill>
                        </a:rPr>
                        <a:t>2024-01-22</a:t>
                      </a:r>
                    </a:p>
                  </a:txBody>
                  <a:tcPr>
                    <a:solidFill>
                      <a:srgbClr val="FFFFFF"/>
                    </a:solidFill>
                  </a:tcPr>
                </a:tc>
                <a:tc>
                  <a:txBody>
                    <a:bodyPr/>
                    <a:lstStyle/>
                    <a:p>
                      <a:pPr algn="ctr"/>
                      <a:r>
                        <a:rPr sz="1300" b="0">
                          <a:solidFill>
                            <a:srgbClr val="262626"/>
                          </a:solidFill>
                        </a:rPr>
                        <a:t>285.7</a:t>
                      </a:r>
                    </a:p>
                  </a:txBody>
                  <a:tcPr>
                    <a:solidFill>
                      <a:srgbClr val="FFFFFF"/>
                    </a:solidFill>
                  </a:tcPr>
                </a:tc>
                <a:tc>
                  <a:txBody>
                    <a:bodyPr/>
                    <a:lstStyle/>
                    <a:p>
                      <a:pPr algn="ctr"/>
                      <a:r>
                        <a:rPr sz="1300" b="0">
                          <a:solidFill>
                            <a:srgbClr val="262626"/>
                          </a:solidFill>
                        </a:rPr>
                        <a:t>12</a:t>
                      </a:r>
                    </a:p>
                  </a:txBody>
                  <a:tcPr>
                    <a:solidFill>
                      <a:srgbClr val="FFFFFF"/>
                    </a:solidFill>
                  </a:tcPr>
                </a:tc>
                <a:tc>
                  <a:txBody>
                    <a:bodyPr/>
                    <a:lstStyle/>
                    <a:p>
                      <a:pPr algn="ctr"/>
                      <a:r>
                        <a:rPr sz="1300" b="0">
                          <a:solidFill>
                            <a:srgbClr val="262626"/>
                          </a:solidFill>
                        </a:rPr>
                        <a:t>2.15</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04"/>
                  </a:ext>
                </a:extLst>
              </a:tr>
              <a:tr h="390698">
                <a:tc>
                  <a:txBody>
                    <a:bodyPr/>
                    <a:lstStyle/>
                    <a:p>
                      <a:pPr algn="ctr"/>
                      <a:r>
                        <a:rPr sz="1300" b="0">
                          <a:solidFill>
                            <a:srgbClr val="262626"/>
                          </a:solidFill>
                        </a:rPr>
                        <a:t>2017-01-16</a:t>
                      </a:r>
                    </a:p>
                  </a:txBody>
                  <a:tcPr>
                    <a:solidFill>
                      <a:srgbClr val="FFFFFF"/>
                    </a:solidFill>
                  </a:tcPr>
                </a:tc>
                <a:tc>
                  <a:txBody>
                    <a:bodyPr/>
                    <a:lstStyle/>
                    <a:p>
                      <a:pPr algn="ctr"/>
                      <a:r>
                        <a:rPr sz="1300" b="0">
                          <a:solidFill>
                            <a:srgbClr val="262626"/>
                          </a:solidFill>
                        </a:rPr>
                        <a:t>262.7</a:t>
                      </a:r>
                    </a:p>
                  </a:txBody>
                  <a:tcPr>
                    <a:solidFill>
                      <a:srgbClr val="FFFFFF"/>
                    </a:solidFill>
                  </a:tcPr>
                </a:tc>
                <a:tc>
                  <a:txBody>
                    <a:bodyPr/>
                    <a:lstStyle/>
                    <a:p>
                      <a:pPr algn="ctr"/>
                      <a:r>
                        <a:rPr sz="1300" b="0">
                          <a:solidFill>
                            <a:srgbClr val="262626"/>
                          </a:solidFill>
                        </a:rPr>
                        <a:t>8</a:t>
                      </a:r>
                    </a:p>
                  </a:txBody>
                  <a:tcPr>
                    <a:solidFill>
                      <a:srgbClr val="FFFFFF"/>
                    </a:solidFill>
                  </a:tcPr>
                </a:tc>
                <a:tc>
                  <a:txBody>
                    <a:bodyPr/>
                    <a:lstStyle/>
                    <a:p>
                      <a:pPr algn="ctr"/>
                      <a:r>
                        <a:rPr sz="1300" b="0">
                          <a:solidFill>
                            <a:srgbClr val="262626"/>
                          </a:solidFill>
                        </a:rPr>
                        <a:t>2.26</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05"/>
                  </a:ext>
                </a:extLst>
              </a:tr>
              <a:tr h="390698">
                <a:tc>
                  <a:txBody>
                    <a:bodyPr/>
                    <a:lstStyle/>
                    <a:p>
                      <a:pPr algn="ctr"/>
                      <a:r>
                        <a:rPr sz="1300" b="0">
                          <a:solidFill>
                            <a:srgbClr val="262626"/>
                          </a:solidFill>
                        </a:rPr>
                        <a:t>2025-12-22</a:t>
                      </a:r>
                    </a:p>
                  </a:txBody>
                  <a:tcPr>
                    <a:solidFill>
                      <a:srgbClr val="FFFFFF"/>
                    </a:solidFill>
                  </a:tcPr>
                </a:tc>
                <a:tc>
                  <a:txBody>
                    <a:bodyPr/>
                    <a:lstStyle/>
                    <a:p>
                      <a:pPr algn="ctr"/>
                      <a:r>
                        <a:rPr sz="1300" b="0">
                          <a:solidFill>
                            <a:srgbClr val="262626"/>
                          </a:solidFill>
                        </a:rPr>
                        <a:t>261.7</a:t>
                      </a:r>
                    </a:p>
                  </a:txBody>
                  <a:tcPr>
                    <a:solidFill>
                      <a:srgbClr val="FFFFFF"/>
                    </a:solidFill>
                  </a:tcPr>
                </a:tc>
                <a:tc>
                  <a:txBody>
                    <a:bodyPr/>
                    <a:lstStyle/>
                    <a:p>
                      <a:pPr algn="ctr"/>
                      <a:r>
                        <a:rPr sz="1300" b="0">
                          <a:solidFill>
                            <a:srgbClr val="262626"/>
                          </a:solidFill>
                        </a:rPr>
                        <a:t>25</a:t>
                      </a:r>
                    </a:p>
                  </a:txBody>
                  <a:tcPr>
                    <a:solidFill>
                      <a:srgbClr val="FFFFFF"/>
                    </a:solidFill>
                  </a:tcPr>
                </a:tc>
                <a:tc>
                  <a:txBody>
                    <a:bodyPr/>
                    <a:lstStyle/>
                    <a:p>
                      <a:pPr algn="ctr"/>
                      <a:r>
                        <a:rPr sz="1300" b="0">
                          <a:solidFill>
                            <a:srgbClr val="262626"/>
                          </a:solidFill>
                        </a:rPr>
                        <a:t>2.48</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06"/>
                  </a:ext>
                </a:extLst>
              </a:tr>
              <a:tr h="390698">
                <a:tc>
                  <a:txBody>
                    <a:bodyPr/>
                    <a:lstStyle/>
                    <a:p>
                      <a:pPr algn="ctr"/>
                      <a:r>
                        <a:rPr sz="1300" b="0">
                          <a:solidFill>
                            <a:srgbClr val="262626"/>
                          </a:solidFill>
                        </a:rPr>
                        <a:t>2017-02-23</a:t>
                      </a:r>
                    </a:p>
                  </a:txBody>
                  <a:tcPr>
                    <a:solidFill>
                      <a:srgbClr val="FFFFFF"/>
                    </a:solidFill>
                  </a:tcPr>
                </a:tc>
                <a:tc>
                  <a:txBody>
                    <a:bodyPr/>
                    <a:lstStyle/>
                    <a:p>
                      <a:pPr algn="ctr"/>
                      <a:r>
                        <a:rPr sz="1300" b="0">
                          <a:solidFill>
                            <a:srgbClr val="262626"/>
                          </a:solidFill>
                        </a:rPr>
                        <a:t>253.3</a:t>
                      </a:r>
                    </a:p>
                  </a:txBody>
                  <a:tcPr>
                    <a:solidFill>
                      <a:srgbClr val="FFFFFF"/>
                    </a:solidFill>
                  </a:tcPr>
                </a:tc>
                <a:tc>
                  <a:txBody>
                    <a:bodyPr/>
                    <a:lstStyle/>
                    <a:p>
                      <a:pPr algn="ctr"/>
                      <a:r>
                        <a:rPr sz="1300" b="0">
                          <a:solidFill>
                            <a:srgbClr val="262626"/>
                          </a:solidFill>
                        </a:rPr>
                        <a:t>11</a:t>
                      </a:r>
                    </a:p>
                  </a:txBody>
                  <a:tcPr>
                    <a:solidFill>
                      <a:srgbClr val="FFFFFF"/>
                    </a:solidFill>
                  </a:tcPr>
                </a:tc>
                <a:tc>
                  <a:txBody>
                    <a:bodyPr/>
                    <a:lstStyle/>
                    <a:p>
                      <a:pPr algn="ctr"/>
                      <a:r>
                        <a:rPr sz="1300" b="0">
                          <a:solidFill>
                            <a:srgbClr val="262626"/>
                          </a:solidFill>
                        </a:rPr>
                        <a:t>2.08</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07"/>
                  </a:ext>
                </a:extLst>
              </a:tr>
              <a:tr h="390698">
                <a:tc>
                  <a:txBody>
                    <a:bodyPr/>
                    <a:lstStyle/>
                    <a:p>
                      <a:pPr algn="ctr"/>
                      <a:r>
                        <a:rPr sz="1300" b="0">
                          <a:solidFill>
                            <a:srgbClr val="262626"/>
                          </a:solidFill>
                        </a:rPr>
                        <a:t>2016-12-14</a:t>
                      </a:r>
                    </a:p>
                  </a:txBody>
                  <a:tcPr>
                    <a:solidFill>
                      <a:srgbClr val="FFFFFF"/>
                    </a:solidFill>
                  </a:tcPr>
                </a:tc>
                <a:tc>
                  <a:txBody>
                    <a:bodyPr/>
                    <a:lstStyle/>
                    <a:p>
                      <a:pPr algn="ctr"/>
                      <a:r>
                        <a:rPr sz="1300" b="0">
                          <a:solidFill>
                            <a:srgbClr val="262626"/>
                          </a:solidFill>
                        </a:rPr>
                        <a:t>248.8</a:t>
                      </a:r>
                    </a:p>
                  </a:txBody>
                  <a:tcPr>
                    <a:solidFill>
                      <a:srgbClr val="FFFFFF"/>
                    </a:solidFill>
                  </a:tcPr>
                </a:tc>
                <a:tc>
                  <a:txBody>
                    <a:bodyPr/>
                    <a:lstStyle/>
                    <a:p>
                      <a:pPr algn="ctr"/>
                      <a:r>
                        <a:rPr sz="1300" b="0">
                          <a:solidFill>
                            <a:srgbClr val="262626"/>
                          </a:solidFill>
                        </a:rPr>
                        <a:t>12</a:t>
                      </a:r>
                    </a:p>
                  </a:txBody>
                  <a:tcPr>
                    <a:solidFill>
                      <a:srgbClr val="FFFFFF"/>
                    </a:solidFill>
                  </a:tcPr>
                </a:tc>
                <a:tc>
                  <a:txBody>
                    <a:bodyPr/>
                    <a:lstStyle/>
                    <a:p>
                      <a:pPr algn="ctr"/>
                      <a:r>
                        <a:rPr sz="1300" b="0">
                          <a:solidFill>
                            <a:srgbClr val="262626"/>
                          </a:solidFill>
                        </a:rPr>
                        <a:t>2.95</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08"/>
                  </a:ext>
                </a:extLst>
              </a:tr>
              <a:tr h="390698">
                <a:tc>
                  <a:txBody>
                    <a:bodyPr/>
                    <a:lstStyle/>
                    <a:p>
                      <a:pPr algn="ctr"/>
                      <a:r>
                        <a:rPr sz="1300" b="0">
                          <a:solidFill>
                            <a:srgbClr val="262626"/>
                          </a:solidFill>
                        </a:rPr>
                        <a:t>2016-02-25</a:t>
                      </a:r>
                    </a:p>
                  </a:txBody>
                  <a:tcPr>
                    <a:solidFill>
                      <a:srgbClr val="FFFFFF"/>
                    </a:solidFill>
                  </a:tcPr>
                </a:tc>
                <a:tc>
                  <a:txBody>
                    <a:bodyPr/>
                    <a:lstStyle/>
                    <a:p>
                      <a:pPr algn="ctr"/>
                      <a:r>
                        <a:rPr sz="1300" b="0">
                          <a:solidFill>
                            <a:srgbClr val="262626"/>
                          </a:solidFill>
                        </a:rPr>
                        <a:t>246.4</a:t>
                      </a:r>
                    </a:p>
                  </a:txBody>
                  <a:tcPr>
                    <a:solidFill>
                      <a:srgbClr val="FFFFFF"/>
                    </a:solidFill>
                  </a:tcPr>
                </a:tc>
                <a:tc>
                  <a:txBody>
                    <a:bodyPr/>
                    <a:lstStyle/>
                    <a:p>
                      <a:pPr algn="ctr"/>
                      <a:r>
                        <a:rPr sz="1300" b="0">
                          <a:solidFill>
                            <a:srgbClr val="262626"/>
                          </a:solidFill>
                        </a:rPr>
                        <a:t>10</a:t>
                      </a:r>
                    </a:p>
                  </a:txBody>
                  <a:tcPr>
                    <a:solidFill>
                      <a:srgbClr val="FFFFFF"/>
                    </a:solidFill>
                  </a:tcPr>
                </a:tc>
                <a:tc>
                  <a:txBody>
                    <a:bodyPr/>
                    <a:lstStyle/>
                    <a:p>
                      <a:pPr algn="ctr"/>
                      <a:r>
                        <a:rPr sz="1300" b="0">
                          <a:solidFill>
                            <a:srgbClr val="262626"/>
                          </a:solidFill>
                        </a:rPr>
                        <a:t>3.48</a:t>
                      </a:r>
                    </a:p>
                  </a:txBody>
                  <a:tcPr>
                    <a:solidFill>
                      <a:srgbClr val="FFFFFF"/>
                    </a:solidFill>
                  </a:tcPr>
                </a:tc>
                <a:tc>
                  <a:txBody>
                    <a:bodyPr/>
                    <a:lstStyle/>
                    <a:p>
                      <a:pPr algn="ctr"/>
                      <a:r>
                        <a:rPr sz="1300" b="1">
                          <a:solidFill>
                            <a:srgbClr val="AA1D13"/>
                          </a:solidFill>
                        </a:rPr>
                        <a:t>Agrees</a:t>
                      </a:r>
                    </a:p>
                  </a:txBody>
                  <a:tcPr>
                    <a:solidFill>
                      <a:srgbClr val="F3D8D5"/>
                    </a:solidFill>
                  </a:tcPr>
                </a:tc>
                <a:extLst>
                  <a:ext uri="{0D108BD9-81ED-4DB2-BD59-A6C34878D82A}">
                    <a16:rowId xmlns:a16="http://schemas.microsoft.com/office/drawing/2014/main" val="10009"/>
                  </a:ext>
                </a:extLst>
              </a:tr>
              <a:tr h="390700">
                <a:tc>
                  <a:txBody>
                    <a:bodyPr/>
                    <a:lstStyle/>
                    <a:p>
                      <a:pPr algn="ctr"/>
                      <a:r>
                        <a:rPr sz="1300" b="0">
                          <a:solidFill>
                            <a:srgbClr val="262626"/>
                          </a:solidFill>
                        </a:rPr>
                        <a:t>2016-01-08</a:t>
                      </a:r>
                    </a:p>
                  </a:txBody>
                  <a:tcPr>
                    <a:solidFill>
                      <a:srgbClr val="FFFFFF"/>
                    </a:solidFill>
                  </a:tcPr>
                </a:tc>
                <a:tc>
                  <a:txBody>
                    <a:bodyPr/>
                    <a:lstStyle/>
                    <a:p>
                      <a:pPr algn="ctr"/>
                      <a:r>
                        <a:rPr sz="1300" b="0">
                          <a:solidFill>
                            <a:srgbClr val="262626"/>
                          </a:solidFill>
                        </a:rPr>
                        <a:t>242.9</a:t>
                      </a:r>
                    </a:p>
                  </a:txBody>
                  <a:tcPr>
                    <a:solidFill>
                      <a:srgbClr val="FFFFFF"/>
                    </a:solidFill>
                  </a:tcPr>
                </a:tc>
                <a:tc>
                  <a:txBody>
                    <a:bodyPr/>
                    <a:lstStyle/>
                    <a:p>
                      <a:pPr algn="ctr"/>
                      <a:r>
                        <a:rPr sz="1300" b="0">
                          <a:solidFill>
                            <a:srgbClr val="262626"/>
                          </a:solidFill>
                        </a:rPr>
                        <a:t>12</a:t>
                      </a:r>
                    </a:p>
                  </a:txBody>
                  <a:tcPr>
                    <a:solidFill>
                      <a:srgbClr val="FFFFFF"/>
                    </a:solidFill>
                  </a:tcPr>
                </a:tc>
                <a:tc>
                  <a:txBody>
                    <a:bodyPr/>
                    <a:lstStyle/>
                    <a:p>
                      <a:pPr algn="ctr"/>
                      <a:r>
                        <a:rPr sz="1300" b="0">
                          <a:solidFill>
                            <a:srgbClr val="262626"/>
                          </a:solidFill>
                        </a:rPr>
                        <a:t>2.33</a:t>
                      </a:r>
                    </a:p>
                  </a:txBody>
                  <a:tcPr>
                    <a:solidFill>
                      <a:srgbClr val="FFFFFF"/>
                    </a:solidFill>
                  </a:tcPr>
                </a:tc>
                <a:tc>
                  <a:txBody>
                    <a:bodyPr/>
                    <a:lstStyle/>
                    <a:p>
                      <a:pPr algn="ctr"/>
                      <a:r>
                        <a:rPr sz="1300" b="0">
                          <a:solidFill>
                            <a:srgbClr val="262626"/>
                          </a:solidFill>
                        </a:rPr>
                        <a:t>Disagrees</a:t>
                      </a:r>
                    </a:p>
                  </a:txBody>
                  <a:tcPr>
                    <a:solidFill>
                      <a:srgbClr val="FFFFFF"/>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8503920" y="1463040"/>
            <a:ext cx="3108960" cy="4206240"/>
          </a:xfrm>
          <a:prstGeom prst="rect">
            <a:avLst/>
          </a:prstGeom>
          <a:noFill/>
        </p:spPr>
        <p:txBody>
          <a:bodyPr wrap="square">
            <a:spAutoFit/>
          </a:bodyPr>
          <a:lstStyle/>
          <a:p>
            <a:pPr>
              <a:spcAft>
                <a:spcPts val="1100"/>
              </a:spcAft>
            </a:pPr>
            <a:r>
              <a:rPr sz="1350">
                <a:solidFill>
                  <a:srgbClr val="262626"/>
                </a:solidFill>
                <a:latin typeface="Calibri"/>
              </a:rPr>
              <a:t>•  All ten of these fires — and all 50 in the shortlist — occurred in Fynbos vegetation</a:t>
            </a:r>
          </a:p>
          <a:p>
            <a:pPr>
              <a:spcAft>
                <a:spcPts val="1100"/>
              </a:spcAft>
            </a:pPr>
            <a:r>
              <a:rPr sz="1350">
                <a:solidFill>
                  <a:srgbClr val="262626"/>
                </a:solidFill>
                <a:latin typeface="Calibri"/>
              </a:rPr>
              <a:t>•  Only 2 of the top 10 fell in a zone the model rated high-risk, in line with the 34% agreement rate across all 50</a:t>
            </a:r>
          </a:p>
          <a:p>
            <a:pPr>
              <a:spcAft>
                <a:spcPts val="1100"/>
              </a:spcAft>
            </a:pPr>
            <a:r>
              <a:rPr sz="1350">
                <a:solidFill>
                  <a:srgbClr val="262626"/>
                </a:solidFill>
                <a:latin typeface="Calibri"/>
              </a:rPr>
              <a:t>•  Don't rely on the composite index alone for pre-positioning — pair it with the historical size pattern directly</a:t>
            </a:r>
          </a:p>
        </p:txBody>
      </p:sp>
      <p:sp>
        <p:nvSpPr>
          <p:cNvPr id="10" name="Rectangle 9"/>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2" name="TextBox 11"/>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Largest Fire Events Assessment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METHODOLOGY &amp; LIMITATIONS</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How This Was Built, and Where to Be Careful</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10881360" cy="4846320"/>
          </a:xfrm>
          <a:prstGeom prst="rect">
            <a:avLst/>
          </a:prstGeom>
          <a:noFill/>
        </p:spPr>
        <p:txBody>
          <a:bodyPr wrap="square">
            <a:spAutoFit/>
          </a:bodyPr>
          <a:lstStyle/>
          <a:p>
            <a:pPr>
              <a:spcAft>
                <a:spcPts val="1400"/>
              </a:spcAft>
            </a:pPr>
            <a:r>
              <a:rPr sz="1600">
                <a:solidFill>
                  <a:srgbClr val="262626"/>
                </a:solidFill>
                <a:latin typeface="Calibri"/>
              </a:rPr>
              <a:t>•  "Top 50 by area" is a deliberate simplification — it surfaces the extremes and excludes mid-sized events that could still matter operationally</a:t>
            </a:r>
          </a:p>
          <a:p>
            <a:pPr>
              <a:spcAft>
                <a:spcPts val="1400"/>
              </a:spcAft>
            </a:pPr>
            <a:r>
              <a:rPr sz="1600">
                <a:solidFill>
                  <a:srgbClr val="262626"/>
                </a:solidFill>
                <a:latin typeface="Calibri"/>
              </a:rPr>
              <a:t>•  The composite risk index was built for a different question (insurer premium tiering) and reused here as a genuine cross-check, not a purpose-built emergency response model</a:t>
            </a:r>
          </a:p>
          <a:p>
            <a:pPr>
              <a:spcAft>
                <a:spcPts val="1400"/>
              </a:spcAft>
            </a:pPr>
            <a:r>
              <a:rPr sz="1600">
                <a:solidFill>
                  <a:srgbClr val="262626"/>
                </a:solidFill>
                <a:latin typeface="Calibri"/>
              </a:rPr>
              <a:t>•  All 50 largest fires being in Fynbos partly reflects that Fynbos is the largest bioregion in the province by a wide margin — a base-rate effect worth remembering before treating vegetation type alone as the explanation</a:t>
            </a:r>
          </a:p>
          <a:p>
            <a:pPr>
              <a:spcAft>
                <a:spcPts val="1400"/>
              </a:spcAft>
            </a:pPr>
            <a:r>
              <a:rPr sz="1600">
                <a:solidFill>
                  <a:srgbClr val="262626"/>
                </a:solidFill>
                <a:latin typeface="Calibri"/>
              </a:rPr>
              <a:t>•  Days burned varies substantially even among similarly-sized fires (8 to 25 days in the top 10 alone) — a separate signal from area that a full response-planning model would also want to incorporate</a:t>
            </a:r>
          </a:p>
          <a:p>
            <a:pPr>
              <a:spcAft>
                <a:spcPts val="1400"/>
              </a:spcAft>
            </a:pPr>
            <a:r>
              <a:rPr sz="1600">
                <a:solidFill>
                  <a:srgbClr val="262626"/>
                </a:solidFill>
                <a:latin typeface="Calibri"/>
              </a:rPr>
              <a:t>•  This is a historical pattern-recognition exercise, not a substitute for real-time fire behaviour prediction during an active event</a:t>
            </a:r>
          </a:p>
        </p:txBody>
      </p:sp>
      <p:sp>
        <p:nvSpPr>
          <p:cNvPr id="9" name="Rectangle 8"/>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1" name="TextBox 10"/>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Largest Fire Events Assessment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_final.png"/>
          <p:cNvPicPr>
            <a:picLocks noChangeAspect="1"/>
          </p:cNvPicPr>
          <p:nvPr/>
        </p:nvPicPr>
        <p:blipFill>
          <a:blip r:embed="rId3"/>
          <a:stretch>
            <a:fillRect/>
          </a:stretch>
        </p:blipFill>
        <p:spPr>
          <a:xfrm>
            <a:off x="822960" y="640080"/>
            <a:ext cx="2109216" cy="914400"/>
          </a:xfrm>
          <a:prstGeom prst="rect">
            <a:avLst/>
          </a:prstGeom>
        </p:spPr>
      </p:pic>
      <p:sp>
        <p:nvSpPr>
          <p:cNvPr id="5" name="TextBox 4"/>
          <p:cNvSpPr txBox="1"/>
          <p:nvPr/>
        </p:nvSpPr>
        <p:spPr>
          <a:xfrm>
            <a:off x="822960" y="2103120"/>
            <a:ext cx="10515600" cy="822960"/>
          </a:xfrm>
          <a:prstGeom prst="rect">
            <a:avLst/>
          </a:prstGeom>
          <a:noFill/>
        </p:spPr>
        <p:txBody>
          <a:bodyPr wrap="square" anchor="t">
            <a:spAutoFit/>
          </a:bodyPr>
          <a:lstStyle/>
          <a:p>
            <a:pPr algn="l"/>
            <a:r>
              <a:rPr sz="4000" b="1" i="0">
                <a:solidFill>
                  <a:srgbClr val="262626"/>
                </a:solidFill>
                <a:latin typeface="Calibri"/>
              </a:rPr>
              <a:t>Next Steps</a:t>
            </a:r>
          </a:p>
        </p:txBody>
      </p:sp>
      <p:sp>
        <p:nvSpPr>
          <p:cNvPr id="6" name="Rectangle 5"/>
          <p:cNvSpPr/>
          <p:nvPr/>
        </p:nvSpPr>
        <p:spPr>
          <a:xfrm>
            <a:off x="841248" y="2834640"/>
            <a:ext cx="1280160" cy="38100"/>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108960"/>
            <a:ext cx="9601200" cy="2011680"/>
          </a:xfrm>
          <a:prstGeom prst="rect">
            <a:avLst/>
          </a:prstGeom>
          <a:noFill/>
        </p:spPr>
        <p:txBody>
          <a:bodyPr wrap="square">
            <a:spAutoFit/>
          </a:bodyPr>
          <a:lstStyle/>
          <a:p>
            <a:pPr>
              <a:spcAft>
                <a:spcPts val="1200"/>
              </a:spcAft>
            </a:pPr>
            <a:r>
              <a:rPr sz="1600">
                <a:solidFill>
                  <a:srgbClr val="262626"/>
                </a:solidFill>
                <a:latin typeface="Calibri"/>
              </a:rPr>
              <a:t>•  Use the historical top-50 pattern directly for pre-season resource pre-positioning, alongside the composite index rather than instead of it</a:t>
            </a:r>
          </a:p>
          <a:p>
            <a:pPr>
              <a:spcAft>
                <a:spcPts val="1200"/>
              </a:spcAft>
            </a:pPr>
            <a:r>
              <a:rPr sz="1600">
                <a:solidFill>
                  <a:srgbClr val="262626"/>
                </a:solidFill>
                <a:latin typeface="Calibri"/>
              </a:rPr>
              <a:t>•  Investigate why two-thirds of the largest fires fall outside the model's high-risk zones — fuel continuity, wind exposure, and suppression access are candidates not yet in the index</a:t>
            </a:r>
          </a:p>
          <a:p>
            <a:pPr>
              <a:spcAft>
                <a:spcPts val="1200"/>
              </a:spcAft>
            </a:pPr>
            <a:r>
              <a:rPr sz="1600">
                <a:solidFill>
                  <a:srgbClr val="262626"/>
                </a:solidFill>
                <a:latin typeface="Calibri"/>
              </a:rPr>
              <a:t>•  Revisit this list every season as new large fires occur</a:t>
            </a:r>
          </a:p>
        </p:txBody>
      </p:sp>
      <p:sp>
        <p:nvSpPr>
          <p:cNvPr id="8" name="TextBox 7"/>
          <p:cNvSpPr txBox="1"/>
          <p:nvPr/>
        </p:nvSpPr>
        <p:spPr>
          <a:xfrm>
            <a:off x="822960" y="5669280"/>
            <a:ext cx="8229600" cy="274320"/>
          </a:xfrm>
          <a:prstGeom prst="rect">
            <a:avLst/>
          </a:prstGeom>
          <a:noFill/>
        </p:spPr>
        <p:txBody>
          <a:bodyPr wrap="square" anchor="t">
            <a:spAutoFit/>
          </a:bodyPr>
          <a:lstStyle/>
          <a:p>
            <a:pPr algn="l"/>
            <a:r>
              <a:rPr sz="1300" b="1" i="0">
                <a:solidFill>
                  <a:srgbClr val="262626"/>
                </a:solidFill>
                <a:latin typeface="Calibri"/>
              </a:rPr>
              <a:t>Cameron Green — Spatial Data Infrastructure Engineer</a:t>
            </a:r>
          </a:p>
        </p:txBody>
      </p:sp>
      <p:sp>
        <p:nvSpPr>
          <p:cNvPr id="9" name="TextBox 8"/>
          <p:cNvSpPr txBox="1"/>
          <p:nvPr/>
        </p:nvSpPr>
        <p:spPr>
          <a:xfrm>
            <a:off x="822960" y="5943600"/>
            <a:ext cx="8229600" cy="274320"/>
          </a:xfrm>
          <a:prstGeom prst="rect">
            <a:avLst/>
          </a:prstGeom>
          <a:noFill/>
        </p:spPr>
        <p:txBody>
          <a:bodyPr wrap="square" anchor="t">
            <a:spAutoFit/>
          </a:bodyPr>
          <a:lstStyle/>
          <a:p>
            <a:pPr algn="l"/>
            <a:r>
              <a:rPr sz="1250" b="0" i="0">
                <a:solidFill>
                  <a:srgbClr val="6E6E6E"/>
                </a:solidFill>
                <a:latin typeface="Calibri"/>
              </a:rPr>
              <a:t>cameron.green@riskscape.pro   |   +27 83 301 3201</a:t>
            </a:r>
          </a:p>
        </p:txBody>
      </p:sp>
      <p:sp>
        <p:nvSpPr>
          <p:cNvPr id="10" name="TextBox 9"/>
          <p:cNvSpPr txBox="1"/>
          <p:nvPr/>
        </p:nvSpPr>
        <p:spPr>
          <a:xfrm>
            <a:off x="822960" y="6217920"/>
            <a:ext cx="8229600" cy="274320"/>
          </a:xfrm>
          <a:prstGeom prst="rect">
            <a:avLst/>
          </a:prstGeom>
          <a:noFill/>
        </p:spPr>
        <p:txBody>
          <a:bodyPr wrap="square" anchor="t">
            <a:spAutoFit/>
          </a:bodyPr>
          <a:lstStyle/>
          <a:p>
            <a:pPr algn="l"/>
            <a:r>
              <a:rPr sz="1250" b="0" i="1">
                <a:solidFill>
                  <a:srgbClr val="6E6E6E"/>
                </a:solidFill>
                <a:latin typeface="Calibri"/>
              </a:rPr>
              <a:t>Riskscape — Spatial Actuarial Technologies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1869</Words>
  <Application>Microsoft Office PowerPoint</Application>
  <PresentationFormat>Widescreen</PresentationFormat>
  <Paragraphs>135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Cameron Green</cp:lastModifiedBy>
  <cp:revision>1</cp:revision>
  <dcterms:created xsi:type="dcterms:W3CDTF">2013-01-27T09:14:16Z</dcterms:created>
  <dcterms:modified xsi:type="dcterms:W3CDTF">2026-07-13T12:52:46Z</dcterms:modified>
  <cp:category/>
</cp:coreProperties>
</file>